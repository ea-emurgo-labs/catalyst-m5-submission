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Poppins ExtraBold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16875A-D368-4964-9A18-23AF7EE67CCF}">
  <a:tblStyle styleId="{3A16875A-D368-4964-9A18-23AF7EE67CC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658B2A7-5383-4B52-B5AF-CB64D3B8F55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FB9B89A-BD05-4061-8225-60C342D32BC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PoppinsExtraBold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Extra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b2d50378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b2d50378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c3382546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c3382546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c3382546f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c3382546f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c3382546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c3382546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c3382546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c3382546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6c3382546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6c3382546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c3382546f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c3382546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c5aef17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c5aef17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c3382546f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c3382546f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c3382546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c3382546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6c3382546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6c3382546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6c5aef170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6c5aef170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6c3382546f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6c3382546f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c3382546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c3382546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6c3382546f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6c3382546f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6c3382546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6c3382546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6c3382546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6c3382546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c5aef170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c5aef170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c3382546f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c3382546f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d6c2cf7d2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6d6c2cf7d2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c3382546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6c3382546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hyperlink" Target="https://innovation.eurasia.undp.org/sdg-blockchain-accelerator-call-for-blockchain-solutions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3.jpg"/><Relationship Id="rId8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Element.png"/>
          <p:cNvPicPr preferRelativeResize="0"/>
          <p:nvPr/>
        </p:nvPicPr>
        <p:blipFill rotWithShape="1">
          <a:blip r:embed="rId3">
            <a:alphaModFix/>
          </a:blip>
          <a:srcRect b="0" l="0" r="42486" t="28987"/>
          <a:stretch/>
        </p:blipFill>
        <p:spPr>
          <a:xfrm>
            <a:off x="7820575" y="0"/>
            <a:ext cx="1323425" cy="1649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1194731" y="221455"/>
            <a:ext cx="6754532" cy="1758734"/>
            <a:chOff x="0" y="0"/>
            <a:chExt cx="9006042" cy="2344978"/>
          </a:xfrm>
        </p:grpSpPr>
        <p:sp>
          <p:nvSpPr>
            <p:cNvPr id="56" name="Google Shape;56;p13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7" name="Google Shape;57;p13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58" name="Google Shape;58;p13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59" name="Google Shape;59;p13"/>
          <p:cNvSpPr txBox="1"/>
          <p:nvPr/>
        </p:nvSpPr>
        <p:spPr>
          <a:xfrm>
            <a:off x="1323475" y="2340900"/>
            <a:ext cx="6497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SDG BLOCKCHAIN ACCELERATOR</a:t>
            </a:r>
            <a:endParaRPr sz="29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323475" y="3163075"/>
            <a:ext cx="6497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Blockchain Fundamentals with a Focus on </a:t>
            </a:r>
            <a:endParaRPr sz="16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Cardano Smart Contracts</a:t>
            </a:r>
            <a:endParaRPr sz="16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cxnSp>
        <p:nvCxnSpPr>
          <p:cNvPr id="61" name="Google Shape;61;p13"/>
          <p:cNvCxnSpPr/>
          <p:nvPr/>
        </p:nvCxnSpPr>
        <p:spPr>
          <a:xfrm>
            <a:off x="1911025" y="3078075"/>
            <a:ext cx="5604600" cy="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3"/>
          <p:cNvSpPr/>
          <p:nvPr/>
        </p:nvSpPr>
        <p:spPr>
          <a:xfrm rot="1992165">
            <a:off x="-1579015" y="3915825"/>
            <a:ext cx="3194968" cy="1751907"/>
          </a:xfrm>
          <a:custGeom>
            <a:rect b="b" l="l" r="r" t="t"/>
            <a:pathLst>
              <a:path extrusionOk="0" h="3069921" w="5598641">
                <a:moveTo>
                  <a:pt x="0" y="0"/>
                </a:moveTo>
                <a:lnTo>
                  <a:pt x="5598640" y="0"/>
                </a:lnTo>
                <a:lnTo>
                  <a:pt x="5598640" y="3069921"/>
                </a:lnTo>
                <a:lnTo>
                  <a:pt x="0" y="3069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13">
            <a:hlinkClick r:id="rId8"/>
          </p:cNvPr>
          <p:cNvSpPr/>
          <p:nvPr/>
        </p:nvSpPr>
        <p:spPr>
          <a:xfrm>
            <a:off x="2333250" y="3831575"/>
            <a:ext cx="4477500" cy="443400"/>
          </a:xfrm>
          <a:prstGeom prst="rect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Technical Workshop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698631" scaled="0"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425975" y="1361025"/>
            <a:ext cx="5735700" cy="27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Blockchain Fundamentals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Cardano?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Cardano Smart Contracts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Aiken Introduction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Live Demo: Aiken Installation, Tools, APIs, SDKs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Exercises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28600" lvl="0" marL="400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Q&amp;A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9" name="Google Shape;69;p14" title="Element.png"/>
          <p:cNvPicPr preferRelativeResize="0"/>
          <p:nvPr/>
        </p:nvPicPr>
        <p:blipFill rotWithShape="1">
          <a:blip r:embed="rId3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50000" y="622225"/>
            <a:ext cx="6466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AGENDA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71" name="Google Shape;71;p14"/>
          <p:cNvCxnSpPr/>
          <p:nvPr/>
        </p:nvCxnSpPr>
        <p:spPr>
          <a:xfrm>
            <a:off x="711600" y="1167313"/>
            <a:ext cx="5792400" cy="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4"/>
          <p:cNvSpPr/>
          <p:nvPr/>
        </p:nvSpPr>
        <p:spPr>
          <a:xfrm>
            <a:off x="6644727" y="3584205"/>
            <a:ext cx="2155118" cy="708495"/>
          </a:xfrm>
          <a:custGeom>
            <a:rect b="b" l="l" r="r" t="t"/>
            <a:pathLst>
              <a:path extrusionOk="0" h="1133592" w="3448188">
                <a:moveTo>
                  <a:pt x="0" y="0"/>
                </a:moveTo>
                <a:lnTo>
                  <a:pt x="3448188" y="0"/>
                </a:lnTo>
                <a:lnTo>
                  <a:pt x="3448188" y="1133592"/>
                </a:lnTo>
                <a:lnTo>
                  <a:pt x="0" y="1133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4"/>
          <p:cNvSpPr/>
          <p:nvPr/>
        </p:nvSpPr>
        <p:spPr>
          <a:xfrm>
            <a:off x="6946002" y="1318302"/>
            <a:ext cx="1465611" cy="1465611"/>
          </a:xfrm>
          <a:custGeom>
            <a:rect b="b" l="l" r="r" t="t"/>
            <a:pathLst>
              <a:path extrusionOk="0" h="2344978" w="2344978">
                <a:moveTo>
                  <a:pt x="0" y="0"/>
                </a:moveTo>
                <a:lnTo>
                  <a:pt x="2344978" y="0"/>
                </a:lnTo>
                <a:lnTo>
                  <a:pt x="2344978" y="2344978"/>
                </a:lnTo>
                <a:lnTo>
                  <a:pt x="0" y="2344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0550" r="-20540" t="0"/>
            </a:stretch>
          </a:blipFill>
          <a:ln>
            <a:noFill/>
          </a:ln>
        </p:spPr>
      </p:sp>
      <p:sp>
        <p:nvSpPr>
          <p:cNvPr id="74" name="Google Shape;74;p14"/>
          <p:cNvSpPr/>
          <p:nvPr/>
        </p:nvSpPr>
        <p:spPr>
          <a:xfrm>
            <a:off x="6820992" y="2895957"/>
            <a:ext cx="1802368" cy="486639"/>
          </a:xfrm>
          <a:custGeom>
            <a:rect b="b" l="l" r="r" t="t"/>
            <a:pathLst>
              <a:path extrusionOk="0" h="778623" w="2883789">
                <a:moveTo>
                  <a:pt x="0" y="0"/>
                </a:moveTo>
                <a:lnTo>
                  <a:pt x="2883789" y="0"/>
                </a:lnTo>
                <a:lnTo>
                  <a:pt x="2883789" y="778623"/>
                </a:lnTo>
                <a:lnTo>
                  <a:pt x="0" y="778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" name="Google Shape;75;p14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/>
          <p:nvPr/>
        </p:nvSpPr>
        <p:spPr>
          <a:xfrm>
            <a:off x="5744875" y="1501500"/>
            <a:ext cx="2943600" cy="2943600"/>
          </a:xfrm>
          <a:prstGeom prst="ellipse">
            <a:avLst/>
          </a:prstGeom>
          <a:noFill/>
          <a:ln cap="flat" cmpd="sng" w="9525">
            <a:solidFill>
              <a:srgbClr val="26B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15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82" name="Google Shape;82;p15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3" name="Google Shape;83;p15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84" name="Google Shape;84;p15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5" name="Google Shape;85;p15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5"/>
          <p:cNvSpPr txBox="1"/>
          <p:nvPr/>
        </p:nvSpPr>
        <p:spPr>
          <a:xfrm>
            <a:off x="431100" y="622225"/>
            <a:ext cx="423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Blockchain Fundamentals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8" name="Google Shape;88;p15" title="loud (11)_0.png"/>
          <p:cNvPicPr preferRelativeResize="0"/>
          <p:nvPr/>
        </p:nvPicPr>
        <p:blipFill rotWithShape="1">
          <a:blip r:embed="rId7">
            <a:alphaModFix/>
          </a:blip>
          <a:srcRect b="0" l="19063" r="19063" t="0"/>
          <a:stretch/>
        </p:blipFill>
        <p:spPr>
          <a:xfrm>
            <a:off x="5850625" y="1588446"/>
            <a:ext cx="2748600" cy="277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324725" y="1792500"/>
            <a:ext cx="4963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blockchain is a distributed ledger maintained by a network of independent nodes.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Unlike traditional databases, where a single entity controls data input and storage, blockchains rely on consensus protocols to achieve data integrity and eliminate single points of failure.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5" title="Element.png"/>
          <p:cNvPicPr preferRelativeResize="0"/>
          <p:nvPr/>
        </p:nvPicPr>
        <p:blipFill rotWithShape="1">
          <a:blip r:embed="rId8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6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96" name="Google Shape;96;p16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7" name="Google Shape;97;p16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98" name="Google Shape;98;p16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9" name="Google Shape;99;p16"/>
          <p:cNvSpPr txBox="1"/>
          <p:nvPr/>
        </p:nvSpPr>
        <p:spPr>
          <a:xfrm>
            <a:off x="431100" y="622225"/>
            <a:ext cx="423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Blockchain Fundamentals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00" name="Google Shape;100;p16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6"/>
          <p:cNvSpPr txBox="1"/>
          <p:nvPr/>
        </p:nvSpPr>
        <p:spPr>
          <a:xfrm>
            <a:off x="476250" y="1298225"/>
            <a:ext cx="171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Why Blockchain?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6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1245000" y="1829325"/>
            <a:ext cx="1980300" cy="287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Decentralization: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5494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single entity controls the data.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Decisions and records are distributed across a network of nodes.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Reduces risk of censorship, manipulation, and single point of failure.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736050" y="1829325"/>
            <a:ext cx="1951200" cy="287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Transparency: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All transactions are recorded on a public or shared ledger.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Anyone can verify the history of a transaction.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Builds trust in systems like voting, supply chains, and public records.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6198000" y="1829325"/>
            <a:ext cx="1833000" cy="2879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Immutability:</a:t>
            </a:r>
            <a:endParaRPr b="1"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Once data is added to the blockchain, it cannot be changed or deleted.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Protects against fraud and tampering.</a:t>
            </a:r>
            <a:endParaRPr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7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11" name="Google Shape;111;p17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2" name="Google Shape;112;p17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113" name="Google Shape;113;p17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4" name="Google Shape;114;p17"/>
          <p:cNvSpPr txBox="1"/>
          <p:nvPr/>
        </p:nvSpPr>
        <p:spPr>
          <a:xfrm>
            <a:off x="431100" y="622225"/>
            <a:ext cx="423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Blockchain Fundamentals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15" name="Google Shape;115;p17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7"/>
          <p:cNvSpPr txBox="1"/>
          <p:nvPr/>
        </p:nvSpPr>
        <p:spPr>
          <a:xfrm>
            <a:off x="431100" y="1679225"/>
            <a:ext cx="3687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Blockchains are made of blocks.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And blocks are made of transactions.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17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 title="Screenshot 2025-07-02 at 14.01.06.png"/>
          <p:cNvPicPr preferRelativeResize="0"/>
          <p:nvPr/>
        </p:nvPicPr>
        <p:blipFill rotWithShape="1">
          <a:blip r:embed="rId7">
            <a:alphaModFix/>
          </a:blip>
          <a:srcRect b="0" l="0" r="33954" t="0"/>
          <a:stretch/>
        </p:blipFill>
        <p:spPr>
          <a:xfrm>
            <a:off x="5162300" y="3285850"/>
            <a:ext cx="3406545" cy="110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/>
          <p:nvPr/>
        </p:nvSpPr>
        <p:spPr>
          <a:xfrm>
            <a:off x="431100" y="2804550"/>
            <a:ext cx="4408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Block has two parts: a header and a body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header contains information about the blocks, such as who produced them and when they were made.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body is nothing more than an ordered sequence of transactions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7" title="Screenshot 2025-07-02 at 14.03.59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62300" y="1451850"/>
            <a:ext cx="3406549" cy="1118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26" name="Google Shape;126;p18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7" name="Google Shape;127;p18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128" name="Google Shape;128;p18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9" name="Google Shape;129;p18"/>
          <p:cNvSpPr txBox="1"/>
          <p:nvPr/>
        </p:nvSpPr>
        <p:spPr>
          <a:xfrm>
            <a:off x="431100" y="622225"/>
            <a:ext cx="423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Blockchain Fundamentals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30" name="Google Shape;130;p18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" name="Google Shape;131;p18"/>
          <p:cNvSpPr txBox="1"/>
          <p:nvPr/>
        </p:nvSpPr>
        <p:spPr>
          <a:xfrm>
            <a:off x="430975" y="1291075"/>
            <a:ext cx="2395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Public vs. Private Blockchains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18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" name="Google Shape;133;p18"/>
          <p:cNvGraphicFramePr/>
          <p:nvPr/>
        </p:nvGraphicFramePr>
        <p:xfrm>
          <a:off x="1173150" y="168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{3A16875A-D368-4964-9A18-23AF7EE67CCF}</a:tableStyleId>
              </a:tblPr>
              <a:tblGrid>
                <a:gridCol w="2071075"/>
                <a:gridCol w="2134575"/>
                <a:gridCol w="2592050"/>
              </a:tblGrid>
              <a:tr h="573650"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Public Blockchain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Private Blockchain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47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Control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Open to everyone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Controlled by one entity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47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Transparency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Full public access	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Private, permissioned access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650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Case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Crypto, DeFi, NFTs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Business, internal operations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650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Examples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Bitcoin, Ethereum, Cardano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Hyperledger, Corda, Quorum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5744875" y="1501500"/>
            <a:ext cx="2943600" cy="2943600"/>
          </a:xfrm>
          <a:prstGeom prst="ellipse">
            <a:avLst/>
          </a:prstGeom>
          <a:noFill/>
          <a:ln cap="flat" cmpd="sng" w="9525">
            <a:solidFill>
              <a:srgbClr val="26BD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9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40" name="Google Shape;140;p19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1" name="Google Shape;141;p19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142" name="Google Shape;142;p19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3" name="Google Shape;143;p19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9"/>
          <p:cNvSpPr txBox="1"/>
          <p:nvPr/>
        </p:nvSpPr>
        <p:spPr>
          <a:xfrm>
            <a:off x="431100" y="622225"/>
            <a:ext cx="423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Blockchain Fundamentals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45" name="Google Shape;145;p19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9"/>
          <p:cNvSpPr txBox="1"/>
          <p:nvPr/>
        </p:nvSpPr>
        <p:spPr>
          <a:xfrm>
            <a:off x="802225" y="1985250"/>
            <a:ext cx="413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Decentralized governance: Multiple stakeholders can share control of disbursement contracts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550500" y="2094681"/>
            <a:ext cx="161100" cy="161100"/>
          </a:xfrm>
          <a:prstGeom prst="ellipse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786475" y="2747225"/>
            <a:ext cx="416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Auditable processes: Anyone can verify that aid was disbursed as promised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550500" y="2849181"/>
            <a:ext cx="161100" cy="161100"/>
          </a:xfrm>
          <a:prstGeom prst="ellipse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786475" y="3541050"/>
            <a:ext cx="416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Immutable records: Farmers can’t have their subsidy logs altered by corrupt intermediaries</a:t>
            </a:r>
            <a:endParaRPr sz="12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50500" y="3643006"/>
            <a:ext cx="161100" cy="161100"/>
          </a:xfrm>
          <a:prstGeom prst="ellipse">
            <a:avLst/>
          </a:prstGeom>
          <a:solidFill>
            <a:srgbClr val="E71F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19" title="standard-quality-control-collage-concept.jpeg"/>
          <p:cNvPicPr preferRelativeResize="0"/>
          <p:nvPr/>
        </p:nvPicPr>
        <p:blipFill rotWithShape="1">
          <a:blip r:embed="rId7">
            <a:alphaModFix/>
          </a:blip>
          <a:srcRect b="0" l="17010" r="17010" t="0"/>
          <a:stretch/>
        </p:blipFill>
        <p:spPr>
          <a:xfrm>
            <a:off x="5850625" y="1588446"/>
            <a:ext cx="2748600" cy="2776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430975" y="1367275"/>
            <a:ext cx="528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 SDG contexts, the benefits include: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19" title="Element.png"/>
          <p:cNvPicPr preferRelativeResize="0"/>
          <p:nvPr/>
        </p:nvPicPr>
        <p:blipFill rotWithShape="1">
          <a:blip r:embed="rId8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0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60" name="Google Shape;160;p20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1" name="Google Shape;161;p20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162" name="Google Shape;162;p20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3" name="Google Shape;163;p20"/>
          <p:cNvSpPr txBox="1"/>
          <p:nvPr/>
        </p:nvSpPr>
        <p:spPr>
          <a:xfrm>
            <a:off x="431100" y="622225"/>
            <a:ext cx="4232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Blockchain Fundamentals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64" name="Google Shape;164;p20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431100" y="1229200"/>
            <a:ext cx="531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Blockchain supports SDG efforts by addressing common gaps:</a:t>
            </a:r>
            <a:endParaRPr b="1" sz="11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6" name="Google Shape;166;p20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7" name="Google Shape;167;p20"/>
          <p:cNvGraphicFramePr/>
          <p:nvPr/>
        </p:nvGraphicFramePr>
        <p:xfrm>
          <a:off x="1366013" y="164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{3A16875A-D368-4964-9A18-23AF7EE67CCF}</a:tableStyleId>
              </a:tblPr>
              <a:tblGrid>
                <a:gridCol w="3113000"/>
                <a:gridCol w="3463250"/>
              </a:tblGrid>
              <a:tr h="525250"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SDG Challenge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Blockchain Enabler</a:t>
                      </a:r>
                      <a:endParaRPr b="1"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52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identity → no service access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Decentralized ID + V</a:t>
                      </a: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erifiable </a:t>
                      </a: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Credential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52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Funds disappear in bureaucracy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Smart contract-based aid disbursement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52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proof of ecosystem work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GPS + sensor metadata + immutable logs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452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access to financial markets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Tokenized credit, P2P lending</a:t>
                      </a:r>
                      <a:endParaRPr sz="10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21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73" name="Google Shape;173;p21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4" name="Google Shape;174;p21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175" name="Google Shape;175;p21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6" name="Google Shape;176;p21"/>
          <p:cNvSpPr txBox="1"/>
          <p:nvPr/>
        </p:nvSpPr>
        <p:spPr>
          <a:xfrm>
            <a:off x="664200" y="675400"/>
            <a:ext cx="315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Why Cardano?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77" name="Google Shape;177;p21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" name="Google Shape;178;p21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473275" y="2003550"/>
            <a:ext cx="4949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Cardano was designed with research-first principles, focusing on scalability, sustainability, and formal verification.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It’s built to support real-world use cases like identity, finance, and governance - aligned closely with SDGs.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Google Shape;180;p21" title="Cardano ADA Icon.png"/>
          <p:cNvPicPr preferRelativeResize="0"/>
          <p:nvPr/>
        </p:nvPicPr>
        <p:blipFill rotWithShape="1">
          <a:blip r:embed="rId7">
            <a:alphaModFix/>
          </a:blip>
          <a:srcRect b="0" l="15073" r="15080" t="0"/>
          <a:stretch/>
        </p:blipFill>
        <p:spPr>
          <a:xfrm>
            <a:off x="5850625" y="1512246"/>
            <a:ext cx="2748600" cy="2776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2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186" name="Google Shape;186;p22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7" name="Google Shape;187;p22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188" name="Google Shape;188;p22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89" name="Google Shape;189;p22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22"/>
          <p:cNvSpPr txBox="1"/>
          <p:nvPr/>
        </p:nvSpPr>
        <p:spPr>
          <a:xfrm>
            <a:off x="664200" y="675400"/>
            <a:ext cx="315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Why Cardano?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191" name="Google Shape;191;p22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2"/>
          <p:cNvSpPr txBox="1"/>
          <p:nvPr/>
        </p:nvSpPr>
        <p:spPr>
          <a:xfrm>
            <a:off x="514675" y="1313900"/>
            <a:ext cx="816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Three key innovations: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2" title="Element.png"/>
          <p:cNvPicPr preferRelativeResize="0"/>
          <p:nvPr/>
        </p:nvPicPr>
        <p:blipFill rotWithShape="1">
          <a:blip r:embed="rId7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22"/>
          <p:cNvGraphicFramePr/>
          <p:nvPr/>
        </p:nvGraphicFramePr>
        <p:xfrm>
          <a:off x="572475" y="1912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{B658B2A7-5383-4B52-B5AF-CB64D3B8F55B}</a:tableStyleId>
              </a:tblPr>
              <a:tblGrid>
                <a:gridCol w="2752375"/>
                <a:gridCol w="2752375"/>
                <a:gridCol w="275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Proof-of-Stake (Ouroboros)</a:t>
                      </a:r>
                      <a:endParaRPr b="1" sz="13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eUTxO Model</a:t>
                      </a:r>
                      <a:endParaRPr b="1" sz="13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Native Assets</a:t>
                      </a:r>
                      <a:endParaRPr b="1" sz="13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Cardano’s PoS consensus is scientifically proven secure.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It balances security, decentralization, and energy efficiency.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Introduced staking + delegation, enabling wide participation.</a:t>
                      </a:r>
                      <a:endParaRPr sz="12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Builds on Bitcoin’s UTXO model, but supports smart contracts.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Offers predictable execution, lower risk of runtime failure..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Gives developers more control and security than Ethereum's account-based model.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Cardano lets users mint and manage custom tokens natively — without smart contracts.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This reduces cost, complexity, and potential bugs.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Ideal for NFTs, stablecoins, and real-world asset tokenization.</a:t>
                      </a:r>
                      <a:endParaRPr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3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00" name="Google Shape;200;p23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1" name="Google Shape;201;p23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02" name="Google Shape;202;p23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03" name="Google Shape;203;p23"/>
          <p:cNvSpPr txBox="1"/>
          <p:nvPr/>
        </p:nvSpPr>
        <p:spPr>
          <a:xfrm>
            <a:off x="664200" y="675400"/>
            <a:ext cx="315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Why Cardano?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04" name="Google Shape;204;p23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5" name="Google Shape;205;p23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3"/>
          <p:cNvGraphicFramePr/>
          <p:nvPr/>
        </p:nvGraphicFramePr>
        <p:xfrm>
          <a:off x="952263" y="147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{AFB9B89A-BD05-4061-8225-60C342D32BCA}</a:tableStyleId>
              </a:tblPr>
              <a:tblGrid>
                <a:gridCol w="1783525"/>
                <a:gridCol w="2926100"/>
                <a:gridCol w="2923125"/>
              </a:tblGrid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Factor</a:t>
                      </a:r>
                      <a:endParaRPr b="1"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Cardano</a:t>
                      </a:r>
                      <a:endParaRPr b="1"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Ethereum</a:t>
                      </a:r>
                      <a:endParaRPr b="1" sz="12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Philosophy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Research-first, slow but secure (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backed by mathematical proofs and academic papers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)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Build-fast, break-fix later (innovates quickly but is more trial-and-error)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Smart Contract Model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eUTxO (more deterministic)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Account-based (more flexible but less deterministic)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Security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Emphasis on formal methods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Less emphasis, more runtime risks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Transaction Costs	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Lower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Higher, especially during congestion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3"/>
          <p:cNvSpPr txBox="1"/>
          <p:nvPr/>
        </p:nvSpPr>
        <p:spPr>
          <a:xfrm>
            <a:off x="952275" y="4227925"/>
            <a:ext cx="763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Conclusion: </a:t>
            </a: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Cardano is more secure and cheaper than Ethereum.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24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13" name="Google Shape;213;p24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14" name="Google Shape;214;p24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15" name="Google Shape;215;p24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16" name="Google Shape;216;p24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24"/>
          <p:cNvSpPr txBox="1"/>
          <p:nvPr/>
        </p:nvSpPr>
        <p:spPr>
          <a:xfrm>
            <a:off x="200750" y="675400"/>
            <a:ext cx="4296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Cardano Smart Contracts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18" name="Google Shape;218;p24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4"/>
          <p:cNvSpPr txBox="1"/>
          <p:nvPr/>
        </p:nvSpPr>
        <p:spPr>
          <a:xfrm>
            <a:off x="514675" y="1466300"/>
            <a:ext cx="7584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smart contract consists of: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Datum – Data attached to the output, which provides contextual information needed for validation (e.g., a beneficiary’s wallet address or a hashed credential).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Redeemer – Data provided by the transaction attempting to consume (spend) the output, typically indicating the intent or action.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Validator – A script that checks whether the transaction is valid by evaluating the redeemer and datum along with other context.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0" name="Google Shape;220;p24" title="Element.png"/>
          <p:cNvPicPr preferRelativeResize="0"/>
          <p:nvPr/>
        </p:nvPicPr>
        <p:blipFill rotWithShape="1">
          <a:blip r:embed="rId7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25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26" name="Google Shape;226;p25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7" name="Google Shape;227;p25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28" name="Google Shape;228;p25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29" name="Google Shape;229;p25"/>
          <p:cNvSpPr txBox="1"/>
          <p:nvPr/>
        </p:nvSpPr>
        <p:spPr>
          <a:xfrm>
            <a:off x="200750" y="675400"/>
            <a:ext cx="4296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Cardano Smart Contracts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30" name="Google Shape;230;p25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5"/>
          <p:cNvSpPr txBox="1"/>
          <p:nvPr/>
        </p:nvSpPr>
        <p:spPr>
          <a:xfrm>
            <a:off x="339925" y="1298725"/>
            <a:ext cx="2585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Guessing Game: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32" name="Google Shape;232;p25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 title="GuessingGame (6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3400" y="1811578"/>
            <a:ext cx="8128573" cy="2493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6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39" name="Google Shape;239;p26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0" name="Google Shape;240;p26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41" name="Google Shape;241;p26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42" name="Google Shape;242;p26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26"/>
          <p:cNvSpPr txBox="1"/>
          <p:nvPr/>
        </p:nvSpPr>
        <p:spPr>
          <a:xfrm>
            <a:off x="200750" y="675400"/>
            <a:ext cx="4296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Cardano Smart Contracts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44" name="Google Shape;244;p26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6"/>
          <p:cNvSpPr txBox="1"/>
          <p:nvPr/>
        </p:nvSpPr>
        <p:spPr>
          <a:xfrm>
            <a:off x="514675" y="1313900"/>
            <a:ext cx="7584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On-chain vs Off-chain Code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Cardano smart contracts are split into two parts: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26" title="Element.png"/>
          <p:cNvPicPr preferRelativeResize="0"/>
          <p:nvPr/>
        </p:nvPicPr>
        <p:blipFill rotWithShape="1">
          <a:blip r:embed="rId7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514675" y="3783525"/>
            <a:ext cx="6444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Role in dApp architecture: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On-chain code enforces logic (e.g., who can spend a UTxO)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Off-chain code handles wallets, building transactions, querying state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48" name="Google Shape;248;p26"/>
          <p:cNvGraphicFramePr/>
          <p:nvPr/>
        </p:nvGraphicFramePr>
        <p:xfrm>
          <a:off x="711588" y="2231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{AFB9B89A-BD05-4061-8225-60C342D32BCA}</a:tableStyleId>
              </a:tblPr>
              <a:tblGrid>
                <a:gridCol w="1326950"/>
                <a:gridCol w="3457375"/>
                <a:gridCol w="2799975"/>
              </a:tblGrid>
              <a:tr h="3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Type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Description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Tools/Examples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On-chain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Runs on the blockchain (validators). Pure, functional, and deterministic.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Plutus scripts, 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Aiken validators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Off-chain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Interacts with users, constructs and submits transactions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Lucid Evolution, MeshJS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27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54" name="Google Shape;254;p27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5" name="Google Shape;255;p27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56" name="Google Shape;256;p27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57" name="Google Shape;257;p27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27"/>
          <p:cNvSpPr txBox="1"/>
          <p:nvPr/>
        </p:nvSpPr>
        <p:spPr>
          <a:xfrm>
            <a:off x="564600" y="628525"/>
            <a:ext cx="3352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Aiken Introduction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59" name="Google Shape;259;p27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" name="Google Shape;260;p27"/>
          <p:cNvSpPr txBox="1"/>
          <p:nvPr/>
        </p:nvSpPr>
        <p:spPr>
          <a:xfrm>
            <a:off x="507300" y="1572175"/>
            <a:ext cx="78897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Aiken is a new, modern smart contract language for the Cardano blockchain, designed to be: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Fast to write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Easy to read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Safe to use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Efficient to execute on-chain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It compiles directly to Plutus Core (the low-level language Cardano nodes understand), but it uses a clean, developer-friendly syntax inspired by languages like Rust, Elm, and Haskell — without the complexity of Haskell itself.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1" name="Google Shape;261;p27" title="Element.png"/>
          <p:cNvPicPr preferRelativeResize="0"/>
          <p:nvPr/>
        </p:nvPicPr>
        <p:blipFill rotWithShape="1">
          <a:blip r:embed="rId7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8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67" name="Google Shape;267;p28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68" name="Google Shape;268;p28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69" name="Google Shape;269;p28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0" name="Google Shape;270;p28"/>
          <p:cNvSpPr txBox="1"/>
          <p:nvPr/>
        </p:nvSpPr>
        <p:spPr>
          <a:xfrm>
            <a:off x="564600" y="628525"/>
            <a:ext cx="3352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Aiken Introduction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71" name="Google Shape;271;p28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28"/>
          <p:cNvSpPr txBox="1"/>
          <p:nvPr/>
        </p:nvSpPr>
        <p:spPr>
          <a:xfrm>
            <a:off x="711600" y="1564575"/>
            <a:ext cx="35196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Installation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Language Tour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Primitive Types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Variables &amp; Constants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Functions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Custom Types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Control Flow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Validators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Modules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oppins"/>
              <a:buChar char="○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Tests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b="1"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Examples</a:t>
            </a:r>
            <a:endParaRPr b="1"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3" name="Google Shape;273;p28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2325" y="1428041"/>
            <a:ext cx="3612880" cy="270966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5365575" y="3996050"/>
            <a:ext cx="238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https://aiken-lang.org/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9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81" name="Google Shape;281;p29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2" name="Google Shape;282;p29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83" name="Google Shape;283;p29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84" name="Google Shape;284;p29"/>
          <p:cNvSpPr/>
          <p:nvPr/>
        </p:nvSpPr>
        <p:spPr>
          <a:xfrm>
            <a:off x="7091194" y="3898742"/>
            <a:ext cx="3801327" cy="2846244"/>
          </a:xfrm>
          <a:custGeom>
            <a:rect b="b" l="l" r="r" t="t"/>
            <a:pathLst>
              <a:path extrusionOk="0" h="2846244" w="3801327">
                <a:moveTo>
                  <a:pt x="0" y="0"/>
                </a:moveTo>
                <a:lnTo>
                  <a:pt x="3801328" y="0"/>
                </a:lnTo>
                <a:lnTo>
                  <a:pt x="3801328" y="2846244"/>
                </a:lnTo>
                <a:lnTo>
                  <a:pt x="0" y="28462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9"/>
          <p:cNvSpPr txBox="1"/>
          <p:nvPr/>
        </p:nvSpPr>
        <p:spPr>
          <a:xfrm>
            <a:off x="9775" y="360625"/>
            <a:ext cx="4806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Live Demo: Aiken Installation,</a:t>
            </a:r>
            <a:endParaRPr sz="22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Tools, APIs, SDKs</a:t>
            </a:r>
            <a:endParaRPr sz="22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86" name="Google Shape;286;p29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7" name="Google Shape;287;p29" title="Element.png"/>
          <p:cNvPicPr preferRelativeResize="0"/>
          <p:nvPr/>
        </p:nvPicPr>
        <p:blipFill rotWithShape="1">
          <a:blip r:embed="rId7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56325" y="1579991"/>
            <a:ext cx="3612880" cy="2709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294" name="Google Shape;294;p30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5" name="Google Shape;295;p30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296" name="Google Shape;296;p30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97" name="Google Shape;297;p30"/>
          <p:cNvSpPr txBox="1"/>
          <p:nvPr/>
        </p:nvSpPr>
        <p:spPr>
          <a:xfrm>
            <a:off x="550500" y="679725"/>
            <a:ext cx="3352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Exercises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298" name="Google Shape;298;p30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30"/>
          <p:cNvSpPr txBox="1"/>
          <p:nvPr/>
        </p:nvSpPr>
        <p:spPr>
          <a:xfrm>
            <a:off x="453900" y="1374650"/>
            <a:ext cx="7804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1. SDG Challenge Mapping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Task: Pick one SDG challenge (e.g., land title fraud, school attendance verification, farmer subsidy leakage)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Deliverable: Fill this table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0" name="Google Shape;300;p30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1" name="Google Shape;301;p30"/>
          <p:cNvGraphicFramePr/>
          <p:nvPr/>
        </p:nvGraphicFramePr>
        <p:xfrm>
          <a:off x="711600" y="290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{3A16875A-D368-4964-9A18-23AF7EE67CCF}</a:tableStyleId>
              </a:tblPr>
              <a:tblGrid>
                <a:gridCol w="2443225"/>
                <a:gridCol w="2024000"/>
                <a:gridCol w="3484875"/>
              </a:tblGrid>
              <a:tr h="327025"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SDG Problem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Blockchain Tool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Rationale</a:t>
                      </a:r>
                      <a:endParaRPr b="1"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e.g. Land fraud in rural Kenya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Native token NFT + VC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Verifiable proof of land title on-chain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e.g. Training not recognized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Verifiable Credential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286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Proof of program completion stored in wallet</a:t>
                      </a:r>
                      <a:endParaRPr sz="1100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1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307" name="Google Shape;307;p31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8" name="Google Shape;308;p31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309" name="Google Shape;309;p31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10" name="Google Shape;310;p31"/>
          <p:cNvSpPr txBox="1"/>
          <p:nvPr/>
        </p:nvSpPr>
        <p:spPr>
          <a:xfrm>
            <a:off x="550500" y="679725"/>
            <a:ext cx="3352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Exercises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311" name="Google Shape;311;p31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1"/>
          <p:cNvSpPr txBox="1"/>
          <p:nvPr/>
        </p:nvSpPr>
        <p:spPr>
          <a:xfrm>
            <a:off x="466925" y="1405050"/>
            <a:ext cx="5451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2. Cardano Explorer Task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Task: Visit cardanoscan.io and paste a token policy ID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Reflect: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Who minted it?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metadata is attached?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What is the transaction size?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3" name="Google Shape;313;p31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32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319" name="Google Shape;319;p32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0" name="Google Shape;320;p32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321" name="Google Shape;321;p32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22" name="Google Shape;322;p32"/>
          <p:cNvSpPr txBox="1"/>
          <p:nvPr/>
        </p:nvSpPr>
        <p:spPr>
          <a:xfrm>
            <a:off x="550500" y="679725"/>
            <a:ext cx="3352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Exercises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323" name="Google Shape;323;p32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2"/>
          <p:cNvSpPr txBox="1"/>
          <p:nvPr/>
        </p:nvSpPr>
        <p:spPr>
          <a:xfrm>
            <a:off x="466925" y="1405050"/>
            <a:ext cx="74778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3. Technical Concept Comparison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Task: Write a 1-paragraph comparison of Ethereum vs. Cardano transaction models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Resources: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Cardano Docs - eUTxO: https://docs.cardano.org/about-cardano/learn/eutxo-explainer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E71F72"/>
              </a:buClr>
              <a:buSzPts val="1300"/>
              <a:buFont typeface="Poppins"/>
              <a:buChar char="●"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Aiken eUTxO Crash Course: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https://aiken-lang.org/fundamentals/eutxo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5" name="Google Shape;325;p32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oogle Shape;330;p33"/>
          <p:cNvGrpSpPr/>
          <p:nvPr/>
        </p:nvGrpSpPr>
        <p:grpSpPr>
          <a:xfrm>
            <a:off x="4749604" y="151277"/>
            <a:ext cx="4231939" cy="1102140"/>
            <a:chOff x="0" y="0"/>
            <a:chExt cx="9006042" cy="2344978"/>
          </a:xfrm>
        </p:grpSpPr>
        <p:sp>
          <p:nvSpPr>
            <p:cNvPr id="331" name="Google Shape;331;p33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32" name="Google Shape;332;p33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333" name="Google Shape;333;p33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34" name="Google Shape;334;p33"/>
          <p:cNvSpPr txBox="1"/>
          <p:nvPr/>
        </p:nvSpPr>
        <p:spPr>
          <a:xfrm>
            <a:off x="550500" y="679725"/>
            <a:ext cx="3352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Exercises</a:t>
            </a:r>
            <a:endParaRPr sz="23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335" name="Google Shape;335;p33"/>
          <p:cNvCxnSpPr/>
          <p:nvPr/>
        </p:nvCxnSpPr>
        <p:spPr>
          <a:xfrm flipH="1" rot="10800000">
            <a:off x="711600" y="1166413"/>
            <a:ext cx="3058500" cy="90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3"/>
          <p:cNvSpPr txBox="1"/>
          <p:nvPr/>
        </p:nvSpPr>
        <p:spPr>
          <a:xfrm>
            <a:off x="466925" y="1405050"/>
            <a:ext cx="747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en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 Guessing Game</a:t>
            </a:r>
            <a:endParaRPr sz="1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7" name="Google Shape;337;p33" title="Element.png"/>
          <p:cNvPicPr preferRelativeResize="0"/>
          <p:nvPr/>
        </p:nvPicPr>
        <p:blipFill rotWithShape="1">
          <a:blip r:embed="rId6">
            <a:alphaModFix/>
          </a:blip>
          <a:srcRect b="0" l="33590" r="0" t="67211"/>
          <a:stretch/>
        </p:blipFill>
        <p:spPr>
          <a:xfrm>
            <a:off x="-1" y="0"/>
            <a:ext cx="1528126" cy="7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3" title="GuessingGame (6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" y="1811578"/>
            <a:ext cx="8128573" cy="2493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689D"/>
            </a:gs>
            <a:gs pos="100000">
              <a:srgbClr val="014F76"/>
            </a:gs>
          </a:gsLst>
          <a:lin ang="2700006" scaled="0"/>
        </a:gra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4" title="Element.png"/>
          <p:cNvPicPr preferRelativeResize="0"/>
          <p:nvPr/>
        </p:nvPicPr>
        <p:blipFill rotWithShape="1">
          <a:blip r:embed="rId3">
            <a:alphaModFix/>
          </a:blip>
          <a:srcRect b="0" l="0" r="42486" t="28987"/>
          <a:stretch/>
        </p:blipFill>
        <p:spPr>
          <a:xfrm>
            <a:off x="7820575" y="0"/>
            <a:ext cx="1323425" cy="1649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4" name="Google Shape;344;p34"/>
          <p:cNvGrpSpPr/>
          <p:nvPr/>
        </p:nvGrpSpPr>
        <p:grpSpPr>
          <a:xfrm>
            <a:off x="2106601" y="2834372"/>
            <a:ext cx="4930808" cy="1283875"/>
            <a:chOff x="0" y="0"/>
            <a:chExt cx="9006042" cy="2344978"/>
          </a:xfrm>
        </p:grpSpPr>
        <p:sp>
          <p:nvSpPr>
            <p:cNvPr id="345" name="Google Shape;345;p34"/>
            <p:cNvSpPr/>
            <p:nvPr/>
          </p:nvSpPr>
          <p:spPr>
            <a:xfrm>
              <a:off x="5557854" y="995449"/>
              <a:ext cx="3448188" cy="1133592"/>
            </a:xfrm>
            <a:custGeom>
              <a:rect b="b" l="l" r="r" t="t"/>
              <a:pathLst>
                <a:path extrusionOk="0" h="1133592" w="3448188">
                  <a:moveTo>
                    <a:pt x="0" y="0"/>
                  </a:moveTo>
                  <a:lnTo>
                    <a:pt x="3448188" y="0"/>
                  </a:lnTo>
                  <a:lnTo>
                    <a:pt x="3448188" y="1133592"/>
                  </a:lnTo>
                  <a:lnTo>
                    <a:pt x="0" y="11335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6" name="Google Shape;346;p34"/>
            <p:cNvSpPr/>
            <p:nvPr/>
          </p:nvSpPr>
          <p:spPr>
            <a:xfrm>
              <a:off x="0" y="0"/>
              <a:ext cx="2344978" cy="2344978"/>
            </a:xfrm>
            <a:custGeom>
              <a:rect b="b" l="l" r="r" t="t"/>
              <a:pathLst>
                <a:path extrusionOk="0" h="2344978" w="2344978">
                  <a:moveTo>
                    <a:pt x="0" y="0"/>
                  </a:moveTo>
                  <a:lnTo>
                    <a:pt x="2344978" y="0"/>
                  </a:lnTo>
                  <a:lnTo>
                    <a:pt x="2344978" y="2344978"/>
                  </a:lnTo>
                  <a:lnTo>
                    <a:pt x="0" y="234497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0550" r="-20540" t="0"/>
              </a:stretch>
            </a:blipFill>
            <a:ln>
              <a:noFill/>
            </a:ln>
          </p:spPr>
        </p:sp>
        <p:sp>
          <p:nvSpPr>
            <p:cNvPr id="347" name="Google Shape;347;p34"/>
            <p:cNvSpPr/>
            <p:nvPr/>
          </p:nvSpPr>
          <p:spPr>
            <a:xfrm>
              <a:off x="2509521" y="1172933"/>
              <a:ext cx="2883789" cy="778623"/>
            </a:xfrm>
            <a:custGeom>
              <a:rect b="b" l="l" r="r" t="t"/>
              <a:pathLst>
                <a:path extrusionOk="0" h="778623" w="2883789">
                  <a:moveTo>
                    <a:pt x="0" y="0"/>
                  </a:moveTo>
                  <a:lnTo>
                    <a:pt x="2883789" y="0"/>
                  </a:lnTo>
                  <a:lnTo>
                    <a:pt x="2883789" y="778623"/>
                  </a:lnTo>
                  <a:lnTo>
                    <a:pt x="0" y="77862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48" name="Google Shape;348;p34"/>
          <p:cNvSpPr txBox="1"/>
          <p:nvPr/>
        </p:nvSpPr>
        <p:spPr>
          <a:xfrm>
            <a:off x="1323475" y="4169700"/>
            <a:ext cx="6497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SDG BLOCKCHAIN ACCELERATOR</a:t>
            </a:r>
            <a:endParaRPr sz="17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cxnSp>
        <p:nvCxnSpPr>
          <p:cNvPr id="349" name="Google Shape;349;p34"/>
          <p:cNvCxnSpPr/>
          <p:nvPr/>
        </p:nvCxnSpPr>
        <p:spPr>
          <a:xfrm>
            <a:off x="1834825" y="4118250"/>
            <a:ext cx="5604600" cy="0"/>
          </a:xfrm>
          <a:prstGeom prst="straightConnector1">
            <a:avLst/>
          </a:prstGeom>
          <a:noFill/>
          <a:ln cap="flat" cmpd="sng" w="19050">
            <a:solidFill>
              <a:srgbClr val="FBC41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4"/>
          <p:cNvSpPr/>
          <p:nvPr/>
        </p:nvSpPr>
        <p:spPr>
          <a:xfrm rot="1072722">
            <a:off x="-1581049" y="3917616"/>
            <a:ext cx="3191379" cy="1749939"/>
          </a:xfrm>
          <a:custGeom>
            <a:rect b="b" l="l" r="r" t="t"/>
            <a:pathLst>
              <a:path extrusionOk="0" h="3069921" w="5598641">
                <a:moveTo>
                  <a:pt x="0" y="0"/>
                </a:moveTo>
                <a:lnTo>
                  <a:pt x="5598640" y="0"/>
                </a:lnTo>
                <a:lnTo>
                  <a:pt x="5598640" y="3069921"/>
                </a:lnTo>
                <a:lnTo>
                  <a:pt x="0" y="30699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34"/>
          <p:cNvSpPr txBox="1"/>
          <p:nvPr/>
        </p:nvSpPr>
        <p:spPr>
          <a:xfrm>
            <a:off x="1323450" y="741050"/>
            <a:ext cx="6497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Thank You &amp; Let’s Build the Future Together</a:t>
            </a:r>
            <a:endParaRPr sz="19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352" name="Google Shape;352;p34"/>
          <p:cNvSpPr txBox="1"/>
          <p:nvPr/>
        </p:nvSpPr>
        <p:spPr>
          <a:xfrm>
            <a:off x="3626575" y="1736775"/>
            <a:ext cx="2021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Q&amp;A</a:t>
            </a:r>
            <a:endParaRPr sz="5000">
              <a:solidFill>
                <a:srgbClr val="FFFFFF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