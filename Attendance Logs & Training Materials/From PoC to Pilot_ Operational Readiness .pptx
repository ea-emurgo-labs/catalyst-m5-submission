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1.png"/><Relationship Id="rId4" Type="http://schemas.openxmlformats.org/officeDocument/2006/relationships/image" Target="../media/image27.png"/><Relationship Id="rId11" Type="http://schemas.openxmlformats.org/officeDocument/2006/relationships/image" Target="../media/image30.png"/><Relationship Id="rId10" Type="http://schemas.openxmlformats.org/officeDocument/2006/relationships/image" Target="../media/image3.png"/><Relationship Id="rId9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33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3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11" Type="http://schemas.openxmlformats.org/officeDocument/2006/relationships/image" Target="../media/image63.png"/><Relationship Id="rId10" Type="http://schemas.openxmlformats.org/officeDocument/2006/relationships/image" Target="../media/image101.png"/><Relationship Id="rId12" Type="http://schemas.openxmlformats.org/officeDocument/2006/relationships/image" Target="../media/image26.png"/><Relationship Id="rId9" Type="http://schemas.openxmlformats.org/officeDocument/2006/relationships/image" Target="../media/image50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72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11" Type="http://schemas.openxmlformats.org/officeDocument/2006/relationships/image" Target="../media/image32.png"/><Relationship Id="rId10" Type="http://schemas.openxmlformats.org/officeDocument/2006/relationships/image" Target="../media/image29.png"/><Relationship Id="rId9" Type="http://schemas.openxmlformats.org/officeDocument/2006/relationships/image" Target="../media/image52.png"/><Relationship Id="rId5" Type="http://schemas.openxmlformats.org/officeDocument/2006/relationships/image" Target="../media/image28.png"/><Relationship Id="rId6" Type="http://schemas.openxmlformats.org/officeDocument/2006/relationships/image" Target="../media/image86.png"/><Relationship Id="rId7" Type="http://schemas.openxmlformats.org/officeDocument/2006/relationships/image" Target="../media/image43.png"/><Relationship Id="rId8" Type="http://schemas.openxmlformats.org/officeDocument/2006/relationships/image" Target="../media/image6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47.png"/><Relationship Id="rId13" Type="http://schemas.openxmlformats.org/officeDocument/2006/relationships/image" Target="../media/image60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53.png"/><Relationship Id="rId5" Type="http://schemas.openxmlformats.org/officeDocument/2006/relationships/image" Target="../media/image28.png"/><Relationship Id="rId6" Type="http://schemas.openxmlformats.org/officeDocument/2006/relationships/image" Target="../media/image58.png"/><Relationship Id="rId7" Type="http://schemas.openxmlformats.org/officeDocument/2006/relationships/image" Target="../media/image42.png"/><Relationship Id="rId8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7.png"/><Relationship Id="rId10" Type="http://schemas.openxmlformats.org/officeDocument/2006/relationships/image" Target="../media/image56.png"/><Relationship Id="rId13" Type="http://schemas.openxmlformats.org/officeDocument/2006/relationships/image" Target="../media/image65.png"/><Relationship Id="rId1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0.png"/><Relationship Id="rId9" Type="http://schemas.openxmlformats.org/officeDocument/2006/relationships/image" Target="../media/image54.png"/><Relationship Id="rId15" Type="http://schemas.openxmlformats.org/officeDocument/2006/relationships/image" Target="../media/image67.png"/><Relationship Id="rId14" Type="http://schemas.openxmlformats.org/officeDocument/2006/relationships/image" Target="../media/image111.png"/><Relationship Id="rId17" Type="http://schemas.openxmlformats.org/officeDocument/2006/relationships/image" Target="../media/image74.png"/><Relationship Id="rId16" Type="http://schemas.openxmlformats.org/officeDocument/2006/relationships/image" Target="../media/image70.png"/><Relationship Id="rId5" Type="http://schemas.openxmlformats.org/officeDocument/2006/relationships/image" Target="../media/image114.png"/><Relationship Id="rId6" Type="http://schemas.openxmlformats.org/officeDocument/2006/relationships/image" Target="../media/image1.png"/><Relationship Id="rId7" Type="http://schemas.openxmlformats.org/officeDocument/2006/relationships/image" Target="../media/image71.png"/><Relationship Id="rId8" Type="http://schemas.openxmlformats.org/officeDocument/2006/relationships/image" Target="../media/image5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99.png"/><Relationship Id="rId10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73.png"/><Relationship Id="rId5" Type="http://schemas.openxmlformats.org/officeDocument/2006/relationships/image" Target="../media/image28.png"/><Relationship Id="rId6" Type="http://schemas.openxmlformats.org/officeDocument/2006/relationships/image" Target="../media/image75.png"/><Relationship Id="rId7" Type="http://schemas.openxmlformats.org/officeDocument/2006/relationships/image" Target="../media/image105.png"/><Relationship Id="rId8" Type="http://schemas.openxmlformats.org/officeDocument/2006/relationships/image" Target="../media/image12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9.png"/><Relationship Id="rId10" Type="http://schemas.openxmlformats.org/officeDocument/2006/relationships/image" Target="../media/image133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88.png"/><Relationship Id="rId5" Type="http://schemas.openxmlformats.org/officeDocument/2006/relationships/image" Target="../media/image9.png"/><Relationship Id="rId6" Type="http://schemas.openxmlformats.org/officeDocument/2006/relationships/image" Target="../media/image84.png"/><Relationship Id="rId7" Type="http://schemas.openxmlformats.org/officeDocument/2006/relationships/image" Target="../media/image126.png"/><Relationship Id="rId8" Type="http://schemas.openxmlformats.org/officeDocument/2006/relationships/image" Target="../media/image85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2.png"/><Relationship Id="rId10" Type="http://schemas.openxmlformats.org/officeDocument/2006/relationships/image" Target="../media/image122.png"/><Relationship Id="rId13" Type="http://schemas.openxmlformats.org/officeDocument/2006/relationships/image" Target="../media/image73.png"/><Relationship Id="rId12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123.png"/><Relationship Id="rId15" Type="http://schemas.openxmlformats.org/officeDocument/2006/relationships/image" Target="../media/image115.png"/><Relationship Id="rId14" Type="http://schemas.openxmlformats.org/officeDocument/2006/relationships/image" Target="../media/image129.png"/><Relationship Id="rId16" Type="http://schemas.openxmlformats.org/officeDocument/2006/relationships/image" Target="../media/image117.png"/><Relationship Id="rId5" Type="http://schemas.openxmlformats.org/officeDocument/2006/relationships/image" Target="../media/image107.png"/><Relationship Id="rId6" Type="http://schemas.openxmlformats.org/officeDocument/2006/relationships/image" Target="../media/image134.png"/><Relationship Id="rId7" Type="http://schemas.openxmlformats.org/officeDocument/2006/relationships/image" Target="../media/image94.png"/><Relationship Id="rId8" Type="http://schemas.openxmlformats.org/officeDocument/2006/relationships/image" Target="../media/image92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89.png"/><Relationship Id="rId8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 amt="80000"/>
          </a:blip>
          <a:srcRect b="0" l="-46" r="-46" t="0"/>
          <a:stretch/>
        </p:blipFill>
        <p:spPr>
          <a:xfrm>
            <a:off x="0" y="4190695"/>
            <a:ext cx="1609344" cy="1429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10382098" y="761695"/>
            <a:ext cx="686714" cy="6867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10382098" y="1524305"/>
            <a:ext cx="686714" cy="68671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1429207" y="5000854"/>
            <a:ext cx="142646" cy="14264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66598" y="4572000"/>
            <a:ext cx="95098" cy="9509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0" y="381305"/>
            <a:ext cx="476402" cy="476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9805" y="11430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0" y="1904695"/>
            <a:ext cx="476402" cy="476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3"/>
          <p:cNvPicPr preferRelativeResize="0"/>
          <p:nvPr/>
        </p:nvPicPr>
        <p:blipFill rotWithShape="1">
          <a:blip r:embed="rId7">
            <a:alphaModFix/>
          </a:blip>
          <a:srcRect b="-402" l="0" r="0" t="-402"/>
          <a:stretch/>
        </p:blipFill>
        <p:spPr>
          <a:xfrm>
            <a:off x="2286000" y="3143707"/>
            <a:ext cx="761969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2762402" y="3429000"/>
            <a:ext cx="6667805" cy="1333195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533095" y="1086307"/>
            <a:ext cx="8385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533095" y="1257300"/>
            <a:ext cx="8385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DP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1695" y="657454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/>
        </p:nvSpPr>
        <p:spPr>
          <a:xfrm>
            <a:off x="-95098" y="2476195"/>
            <a:ext cx="12382805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SDG BLOCKCHAIN ACCELERATOR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3816706" y="3650285"/>
            <a:ext cx="4567428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From PoC to Pilot: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Operational Readiness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323698" y="5143500"/>
            <a:ext cx="1154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pen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Production Deployment for SDG Blockchain Accelerator Cohort 2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323698" y="5581498"/>
            <a:ext cx="115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300"/>
              <a:buFont typeface="Open Sans"/>
              <a:buNone/>
            </a:pPr>
            <a:r>
              <a:rPr b="0" i="1" lang="en-US" sz="13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"Turning validated PoCs into reliable, user-safe pilots"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" name="Google Shape;35;p3"/>
          <p:cNvGrpSpPr/>
          <p:nvPr/>
        </p:nvGrpSpPr>
        <p:grpSpPr>
          <a:xfrm>
            <a:off x="2578914" y="273886"/>
            <a:ext cx="6754532" cy="1758734"/>
            <a:chOff x="0" y="0"/>
            <a:chExt cx="9006042" cy="2344978"/>
          </a:xfrm>
        </p:grpSpPr>
        <p:sp>
          <p:nvSpPr>
            <p:cNvPr id="36" name="Google Shape;36;p3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" name="Google Shape;37;p3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38" name="Google Shape;38;p3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3">
            <a:alphaModFix/>
          </a:blip>
          <a:srcRect b="0" l="-76" r="-76" t="0"/>
          <a:stretch/>
        </p:blipFill>
        <p:spPr>
          <a:xfrm>
            <a:off x="9810598" y="-476402"/>
            <a:ext cx="3219602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571500" y="1333195"/>
            <a:ext cx="3429000" cy="2476195"/>
          </a:xfrm>
          <a:prstGeom prst="roundRect">
            <a:avLst>
              <a:gd fmla="val 2272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71500" y="4000500"/>
            <a:ext cx="3429000" cy="2286000"/>
          </a:xfrm>
          <a:prstGeom prst="roundRect">
            <a:avLst>
              <a:gd fmla="val 2667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286707" y="1333195"/>
            <a:ext cx="7334402" cy="4953305"/>
          </a:xfrm>
          <a:prstGeom prst="roundRect">
            <a:avLst>
              <a:gd fmla="val 568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571500" y="952805"/>
            <a:ext cx="95280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4667098" y="2286000"/>
            <a:ext cx="381305" cy="381305"/>
          </a:xfrm>
          <a:prstGeom prst="ellipse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667098" y="2952598"/>
            <a:ext cx="381305" cy="381305"/>
          </a:xfrm>
          <a:prstGeom prst="ellipse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667098" y="3619195"/>
            <a:ext cx="381305" cy="381305"/>
          </a:xfrm>
          <a:prstGeom prst="ellipse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667098" y="4286707"/>
            <a:ext cx="381305" cy="381305"/>
          </a:xfrm>
          <a:prstGeom prst="ellipse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191195" y="2286000"/>
            <a:ext cx="381305" cy="381305"/>
          </a:xfrm>
          <a:prstGeom prst="ellipse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8191195" y="2952598"/>
            <a:ext cx="381305" cy="381305"/>
          </a:xfrm>
          <a:prstGeom prst="ellipse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8191195" y="3619195"/>
            <a:ext cx="381305" cy="381305"/>
          </a:xfrm>
          <a:prstGeom prst="ellipse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4"/>
          <p:cNvPicPr preferRelativeResize="0"/>
          <p:nvPr/>
        </p:nvPicPr>
        <p:blipFill rotWithShape="1">
          <a:blip r:embed="rId5">
            <a:alphaModFix/>
          </a:blip>
          <a:srcRect b="0" l="-81" r="-81" t="0"/>
          <a:stretch/>
        </p:blipFill>
        <p:spPr>
          <a:xfrm>
            <a:off x="4286707" y="6191402"/>
            <a:ext cx="7334402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 txBox="1"/>
          <p:nvPr/>
        </p:nvSpPr>
        <p:spPr>
          <a:xfrm>
            <a:off x="571500" y="381305"/>
            <a:ext cx="1123980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Workshop Overview &amp; Agenda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1066190" y="1524305"/>
            <a:ext cx="2858414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DEF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ADEF"/>
                </a:solidFill>
                <a:latin typeface="Montserrat"/>
                <a:ea typeface="Montserrat"/>
                <a:cs typeface="Montserrat"/>
                <a:sym typeface="Montserrat"/>
              </a:rPr>
              <a:t>OBJECTIVES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695" y="1540764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 txBox="1"/>
          <p:nvPr/>
        </p:nvSpPr>
        <p:spPr>
          <a:xfrm>
            <a:off x="1010412" y="2000707"/>
            <a:ext cx="2875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Define pilot-grade operational standards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1010412" y="2600554"/>
            <a:ext cx="33412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Reduce deployment risks for live users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1010412" y="2971800"/>
            <a:ext cx="2875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Align teams on incident response runbooks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4"/>
          <p:cNvPicPr preferRelativeResize="0"/>
          <p:nvPr/>
        </p:nvPicPr>
        <p:blipFill rotWithShape="1">
          <a:blip r:embed="rId7">
            <a:alphaModFix/>
          </a:blip>
          <a:srcRect b="-43" l="0" r="0" t="-43"/>
          <a:stretch/>
        </p:blipFill>
        <p:spPr>
          <a:xfrm>
            <a:off x="761695" y="2038198"/>
            <a:ext cx="133502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4"/>
          <p:cNvPicPr preferRelativeResize="0"/>
          <p:nvPr/>
        </p:nvPicPr>
        <p:blipFill rotWithShape="1">
          <a:blip r:embed="rId7">
            <a:alphaModFix/>
          </a:blip>
          <a:srcRect b="-43" l="0" r="0" t="-43"/>
          <a:stretch/>
        </p:blipFill>
        <p:spPr>
          <a:xfrm>
            <a:off x="761695" y="2638044"/>
            <a:ext cx="133502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4"/>
          <p:cNvPicPr preferRelativeResize="0"/>
          <p:nvPr/>
        </p:nvPicPr>
        <p:blipFill rotWithShape="1">
          <a:blip r:embed="rId7">
            <a:alphaModFix/>
          </a:blip>
          <a:srcRect b="-43" l="0" r="0" t="-43"/>
          <a:stretch/>
        </p:blipFill>
        <p:spPr>
          <a:xfrm>
            <a:off x="761695" y="3010205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 txBox="1"/>
          <p:nvPr/>
        </p:nvSpPr>
        <p:spPr>
          <a:xfrm>
            <a:off x="1018642" y="4190695"/>
            <a:ext cx="2905963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913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FDB913"/>
                </a:solidFill>
                <a:latin typeface="Montserrat"/>
                <a:ea typeface="Montserrat"/>
                <a:cs typeface="Montserrat"/>
                <a:sym typeface="Montserrat"/>
              </a:rPr>
              <a:t>OUTPUTS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8">
            <a:alphaModFix/>
          </a:blip>
          <a:srcRect b="0" l="-1528" r="-1528" t="0"/>
          <a:stretch/>
        </p:blipFill>
        <p:spPr>
          <a:xfrm>
            <a:off x="761695" y="4208069"/>
            <a:ext cx="161849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 txBox="1"/>
          <p:nvPr/>
        </p:nvSpPr>
        <p:spPr>
          <a:xfrm>
            <a:off x="1010412" y="4667098"/>
            <a:ext cx="2875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Comprehensive Pilot Readiness Checklist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1010412" y="5266944"/>
            <a:ext cx="2914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Operational Ownership Matrix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1010412" y="5639105"/>
            <a:ext cx="2914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Team-specific Action Items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4"/>
          <p:cNvPicPr preferRelativeResize="0"/>
          <p:nvPr/>
        </p:nvPicPr>
        <p:blipFill rotWithShape="1">
          <a:blip r:embed="rId9">
            <a:alphaModFix/>
          </a:blip>
          <a:srcRect b="-43" l="0" r="0" t="-43"/>
          <a:stretch/>
        </p:blipFill>
        <p:spPr>
          <a:xfrm>
            <a:off x="761695" y="4705502"/>
            <a:ext cx="133502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4"/>
          <p:cNvPicPr preferRelativeResize="0"/>
          <p:nvPr/>
        </p:nvPicPr>
        <p:blipFill rotWithShape="1">
          <a:blip r:embed="rId9">
            <a:alphaModFix/>
          </a:blip>
          <a:srcRect b="-43" l="0" r="0" t="-43"/>
          <a:stretch/>
        </p:blipFill>
        <p:spPr>
          <a:xfrm>
            <a:off x="761695" y="5305349"/>
            <a:ext cx="133502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4"/>
          <p:cNvPicPr preferRelativeResize="0"/>
          <p:nvPr/>
        </p:nvPicPr>
        <p:blipFill rotWithShape="1">
          <a:blip r:embed="rId9">
            <a:alphaModFix/>
          </a:blip>
          <a:srcRect b="-43" l="0" r="0" t="-43"/>
          <a:stretch/>
        </p:blipFill>
        <p:spPr>
          <a:xfrm>
            <a:off x="761695" y="5676595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4667098" y="1990649"/>
            <a:ext cx="2619756" cy="19202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4667098" y="1619402"/>
            <a:ext cx="2705710" cy="27706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WORKSHOP AGENDA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4629607" y="2343607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5191049" y="2343607"/>
            <a:ext cx="29846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Infrastructure &amp;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4629607" y="301020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5191049" y="3010205"/>
            <a:ext cx="2971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Key Management &amp; 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4629607" y="367680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191049" y="3676802"/>
            <a:ext cx="2971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Monitoring &amp; Observability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4629607" y="43434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5191049" y="4343400"/>
            <a:ext cx="2971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Error Handling &amp; Recovery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8153705" y="2343607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8715146" y="2343607"/>
            <a:ext cx="277429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Scaling Considerations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8153705" y="301020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8715146" y="3010205"/>
            <a:ext cx="277429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UX in Production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8153705" y="367680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8715146" y="3676802"/>
            <a:ext cx="277429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Pilot Metrics &amp; Success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3">
            <a:alphaModFix/>
          </a:blip>
          <a:srcRect b="0" l="-76" r="-76" t="0"/>
          <a:stretch/>
        </p:blipFill>
        <p:spPr>
          <a:xfrm>
            <a:off x="9810598" y="-476402"/>
            <a:ext cx="3219602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571500" y="1333195"/>
            <a:ext cx="5372100" cy="4762195"/>
          </a:xfrm>
          <a:prstGeom prst="roundRect">
            <a:avLst>
              <a:gd fmla="val 614" name="adj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71500" y="1333195"/>
            <a:ext cx="38405" cy="4762195"/>
          </a:xfrm>
          <a:prstGeom prst="roundRect">
            <a:avLst>
              <a:gd fmla="val 76190" name="adj"/>
            </a:avLst>
          </a:prstGeom>
          <a:solidFill>
            <a:srgbClr val="00ADEF"/>
          </a:solidFill>
          <a:ln cap="flat" cmpd="sng" w="12700">
            <a:solidFill>
              <a:srgbClr val="00A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286500" y="1333195"/>
            <a:ext cx="5333695" cy="4762195"/>
          </a:xfrm>
          <a:prstGeom prst="roundRect">
            <a:avLst>
              <a:gd fmla="val 614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571500" y="952805"/>
            <a:ext cx="952805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5"/>
          <p:cNvPicPr preferRelativeResize="0"/>
          <p:nvPr/>
        </p:nvPicPr>
        <p:blipFill rotWithShape="1">
          <a:blip r:embed="rId5">
            <a:alphaModFix/>
          </a:blip>
          <a:srcRect b="0" l="-77" r="-77" t="0"/>
          <a:stretch/>
        </p:blipFill>
        <p:spPr>
          <a:xfrm>
            <a:off x="6286500" y="6001207"/>
            <a:ext cx="5333695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 txBox="1"/>
          <p:nvPr/>
        </p:nvSpPr>
        <p:spPr>
          <a:xfrm>
            <a:off x="571500" y="381305"/>
            <a:ext cx="1123980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Infrastructure &amp; Deployment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6">
            <a:alphaModFix/>
          </a:blip>
          <a:srcRect b="0" l="-107" r="-107" t="0"/>
          <a:stretch/>
        </p:blipFill>
        <p:spPr>
          <a:xfrm>
            <a:off x="761695" y="1524305"/>
            <a:ext cx="2670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 txBox="1"/>
          <p:nvPr/>
        </p:nvSpPr>
        <p:spPr>
          <a:xfrm>
            <a:off x="1238098" y="1524305"/>
            <a:ext cx="44010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DEF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0ADEF"/>
                </a:solidFill>
                <a:latin typeface="Montserrat"/>
                <a:ea typeface="Montserrat"/>
                <a:cs typeface="Montserrat"/>
                <a:sym typeface="Montserrat"/>
              </a:rPr>
              <a:t>STRATEGIC DECISIONS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1695" y="2095805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1143000" y="2076602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Network 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1143000" y="2343607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Preprod → Mainnet transition gates and rollback plans. Define clear go/no-go criteria.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1695" y="295259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 txBox="1"/>
          <p:nvPr/>
        </p:nvSpPr>
        <p:spPr>
          <a:xfrm>
            <a:off x="1143000" y="2933395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Hosting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1143000" y="3200400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Cloud vs Managed services selection. Verify regions for data residency compliance.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5"/>
          <p:cNvPicPr preferRelativeResize="0"/>
          <p:nvPr/>
        </p:nvPicPr>
        <p:blipFill rotWithShape="1">
          <a:blip r:embed="rId9">
            <a:alphaModFix/>
          </a:blip>
          <a:srcRect b="0" l="-1648" r="-1648" t="0"/>
          <a:stretch/>
        </p:blipFill>
        <p:spPr>
          <a:xfrm>
            <a:off x="761695" y="3810305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/>
        </p:nvSpPr>
        <p:spPr>
          <a:xfrm>
            <a:off x="1143000" y="3791102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Stores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1143000" y="4058107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Off-chain DB synchronization, IPFS pinning strategy, bucket policies, and retention rules.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10">
            <a:alphaModFix/>
          </a:blip>
          <a:srcRect b="0" l="-1648" r="-1648" t="0"/>
          <a:stretch/>
        </p:blipFill>
        <p:spPr>
          <a:xfrm>
            <a:off x="761695" y="4667098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 txBox="1"/>
          <p:nvPr/>
        </p:nvSpPr>
        <p:spPr>
          <a:xfrm>
            <a:off x="1143000" y="4647895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SLOs (Service Level Objectives)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1143000" y="4914900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Define targets for availability (e.g., 99.9%), API latency, and recovery time objectives (RTO).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707" y="1524305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7048195" y="1524305"/>
            <a:ext cx="44010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CHECKLIST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707" y="209580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6953098" y="2076602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IaC &amp; Reproducibility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6953098" y="2343607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Terraform/Ansible scripts for infrastructure creation. Environments must be reproducible.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707" y="28575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 txBox="1"/>
          <p:nvPr/>
        </p:nvSpPr>
        <p:spPr>
          <a:xfrm>
            <a:off x="6953098" y="2838298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Secrets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6953098" y="3105302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Use KMS/HSM for keys. No hardcoded secrets. Enforce least-privilege IAM roles.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707" y="37627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6953098" y="3743554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CI/CD Pipelines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6953098" y="4009644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Automated testing and deployment for smart contracts and backends. Versioned releases.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707" y="4667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6953098" y="4647895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Disaster Recovery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6953098" y="4914900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Automated backups and regular restore drills. Documented change management procedures.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-76" r="-76" t="0"/>
          <a:stretch/>
        </p:blipFill>
        <p:spPr>
          <a:xfrm>
            <a:off x="9810598" y="-476402"/>
            <a:ext cx="3219602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571500" y="1333195"/>
            <a:ext cx="5372100" cy="4762195"/>
          </a:xfrm>
          <a:prstGeom prst="roundRect">
            <a:avLst>
              <a:gd fmla="val 614" name="adj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71500" y="1333195"/>
            <a:ext cx="38405" cy="4762195"/>
          </a:xfrm>
          <a:prstGeom prst="roundRect">
            <a:avLst>
              <a:gd fmla="val 76190" name="adj"/>
            </a:avLst>
          </a:prstGeom>
          <a:solidFill>
            <a:srgbClr val="E91E8C"/>
          </a:solidFill>
          <a:ln cap="flat" cmpd="sng" w="12700">
            <a:solidFill>
              <a:srgbClr val="E91E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286500" y="1333195"/>
            <a:ext cx="5333695" cy="4762195"/>
          </a:xfrm>
          <a:prstGeom prst="roundRect">
            <a:avLst>
              <a:gd fmla="val 614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6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571500" y="952805"/>
            <a:ext cx="952805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6"/>
          <p:cNvPicPr preferRelativeResize="0"/>
          <p:nvPr/>
        </p:nvPicPr>
        <p:blipFill rotWithShape="1">
          <a:blip r:embed="rId5">
            <a:alphaModFix/>
          </a:blip>
          <a:srcRect b="0" l="-77" r="-77" t="0"/>
          <a:stretch/>
        </p:blipFill>
        <p:spPr>
          <a:xfrm>
            <a:off x="6286500" y="6001207"/>
            <a:ext cx="5333695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571500" y="381305"/>
            <a:ext cx="1123980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Key Management &amp; Security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695" y="1524305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1238098" y="1524305"/>
            <a:ext cx="44010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E91E8C"/>
                </a:solidFill>
                <a:latin typeface="Montserrat"/>
                <a:ea typeface="Montserrat"/>
                <a:cs typeface="Montserrat"/>
                <a:sym typeface="Montserrat"/>
              </a:rPr>
              <a:t>CRITICAL RISKS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1695" y="219090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1143000" y="2171700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Key Loss &amp; Single Points of Failure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1143000" y="2438705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Single-admin hot wallets are vulnerable to compromise or accidental loss without recovery paths.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1695" y="3191256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1143000" y="3172054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Endpoint &amp; Supply Chain Exposure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143000" y="3438144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Compromised dev environments or dependencies can leak secrets or inject malicious logic.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6"/>
          <p:cNvPicPr preferRelativeResize="0"/>
          <p:nvPr/>
        </p:nvPicPr>
        <p:blipFill rotWithShape="1">
          <a:blip r:embed="rId9">
            <a:alphaModFix/>
          </a:blip>
          <a:srcRect b="0" l="-1648" r="-1648" t="0"/>
          <a:stretch/>
        </p:blipFill>
        <p:spPr>
          <a:xfrm>
            <a:off x="761695" y="4190695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1143000" y="4172407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PII Leakage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1143000" y="4438498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Inadvertently exposing personal data in transaction metadata or unencrypted logs violates privacy regulations.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6"/>
          <p:cNvPicPr preferRelativeResize="0"/>
          <p:nvPr/>
        </p:nvPicPr>
        <p:blipFill rotWithShape="1">
          <a:blip r:embed="rId10">
            <a:alphaModFix/>
          </a:blip>
          <a:srcRect b="0" l="-107" r="-107" t="0"/>
          <a:stretch/>
        </p:blipFill>
        <p:spPr>
          <a:xfrm>
            <a:off x="6572707" y="1524305"/>
            <a:ext cx="2670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7048195" y="1524305"/>
            <a:ext cx="44010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SECURITY CONTROLS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707" y="209580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6953098" y="2076602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Multisig &amp; Hardware Wallets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6953098" y="2343607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Require M-of-N signatures for admin actions. Use hardware wallets for high-value keys.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707" y="290504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 txBox="1"/>
          <p:nvPr/>
        </p:nvSpPr>
        <p:spPr>
          <a:xfrm>
            <a:off x="6953098" y="2885846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Key Ceremonies &amp; Rotation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6953098" y="3152851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Formalize key generation processes. Schedule regular key rotation and access reviews.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707" y="37152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6953098" y="3696005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Secure Signing Infrastructure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6953098" y="3962095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Use air-gapped signing or managed wallet services with strict policy enforcement.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707" y="452445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6953098" y="4505249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Code Signing &amp; Audit Logs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6953098" y="4772254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Implement SBOMs, dependency pinning, and comprehensive audit trails for all actions.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707" y="53336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 txBox="1"/>
          <p:nvPr/>
        </p:nvSpPr>
        <p:spPr>
          <a:xfrm>
            <a:off x="6953098" y="5315407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Privacy-by-Design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6953098" y="5581498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Store only hashes on-chain. Keep PII off-chain with strict access controls.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-76" r="-76" t="0"/>
          <a:stretch/>
        </p:blipFill>
        <p:spPr>
          <a:xfrm>
            <a:off x="9810598" y="-476402"/>
            <a:ext cx="3219602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571500" y="1714500"/>
            <a:ext cx="5333695" cy="4572000"/>
          </a:xfrm>
          <a:prstGeom prst="roundRect">
            <a:avLst>
              <a:gd fmla="val 667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286500" y="1714500"/>
            <a:ext cx="5352898" cy="4591202"/>
          </a:xfrm>
          <a:prstGeom prst="roundRect">
            <a:avLst>
              <a:gd fmla="val 661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7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571500" y="952805"/>
            <a:ext cx="952805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7"/>
          <p:cNvPicPr preferRelativeResize="0"/>
          <p:nvPr/>
        </p:nvPicPr>
        <p:blipFill rotWithShape="1">
          <a:blip r:embed="rId5">
            <a:alphaModFix/>
          </a:blip>
          <a:srcRect b="0" l="-77" r="-77" t="0"/>
          <a:stretch/>
        </p:blipFill>
        <p:spPr>
          <a:xfrm>
            <a:off x="6286500" y="6191402"/>
            <a:ext cx="5333695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 txBox="1"/>
          <p:nvPr/>
        </p:nvSpPr>
        <p:spPr>
          <a:xfrm>
            <a:off x="571500" y="381305"/>
            <a:ext cx="1123980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Monitoring &amp; Observability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571500" y="1143000"/>
            <a:ext cx="11163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300"/>
              <a:buFont typeface="Open Sans"/>
              <a:buNone/>
            </a:pPr>
            <a:r>
              <a:rPr b="0" i="1" lang="en-US" sz="13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"You cannot improve what you do not measure. In blockchain, you cannot fix what you do not see."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57707" y="2180844"/>
            <a:ext cx="3524098" cy="19202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857707" y="1904695"/>
            <a:ext cx="3639312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TRANSACTION &amp; INFRASTRUCTURE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707" y="2381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1238098" y="2361895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Full Lifecycle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1238098" y="2590495"/>
            <a:ext cx="44577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Monitor every stage: Build → Sign → Submit → Mempool → Confirmation. Identify where bottlenecks occur.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707" y="31912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 txBox="1"/>
          <p:nvPr/>
        </p:nvSpPr>
        <p:spPr>
          <a:xfrm>
            <a:off x="1238098" y="3172054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Wallet &amp; UTxO Health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1238098" y="3400654"/>
            <a:ext cx="44577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Track balance thresholds, UTxO fragmentation levels, and contention hot-spots in operational wallets.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707" y="395295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 txBox="1"/>
          <p:nvPr/>
        </p:nvSpPr>
        <p:spPr>
          <a:xfrm>
            <a:off x="1238098" y="3933749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API &amp; System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1238098" y="4162349"/>
            <a:ext cx="44577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Latency p95/p99, error rates (4xx/5xx), worker queue depth, and resource saturation.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7"/>
          <p:cNvPicPr preferRelativeResize="0"/>
          <p:nvPr/>
        </p:nvPicPr>
        <p:blipFill rotWithShape="1">
          <a:blip r:embed="rId9">
            <a:alphaModFix/>
          </a:blip>
          <a:srcRect b="0" l="-133" r="-133" t="0"/>
          <a:stretch/>
        </p:blipFill>
        <p:spPr>
          <a:xfrm>
            <a:off x="857707" y="4714646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 txBox="1"/>
          <p:nvPr/>
        </p:nvSpPr>
        <p:spPr>
          <a:xfrm>
            <a:off x="1238098" y="4695444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External Dependencies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238098" y="4924044"/>
            <a:ext cx="44577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Monitor Blockfrost/provider quotas, health checks, and response times from 3rd party services.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572707" y="2180844"/>
            <a:ext cx="2971800" cy="19202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6572707" y="1904695"/>
            <a:ext cx="3086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DE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ADEF"/>
                </a:solidFill>
                <a:latin typeface="Montserrat"/>
                <a:ea typeface="Montserrat"/>
                <a:cs typeface="Montserrat"/>
                <a:sym typeface="Montserrat"/>
              </a:rPr>
              <a:t>LOGGING, ALERTING &amp; TOOLS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7"/>
          <p:cNvPicPr preferRelativeResize="0"/>
          <p:nvPr/>
        </p:nvPicPr>
        <p:blipFill rotWithShape="1">
          <a:blip r:embed="rId10">
            <a:alphaModFix/>
          </a:blip>
          <a:srcRect b="-45" l="0" r="0" t="-45"/>
          <a:stretch/>
        </p:blipFill>
        <p:spPr>
          <a:xfrm>
            <a:off x="6572707" y="2381098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6953098" y="2361895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Structured Logging &amp; Tracing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6953098" y="2590495"/>
            <a:ext cx="44577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Use JSON logs with correlation IDs to trace user flows across microservices. Implement OpenTelemetry for distributed tracing.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7"/>
          <p:cNvPicPr preferRelativeResize="0"/>
          <p:nvPr/>
        </p:nvPicPr>
        <p:blipFill rotWithShape="1">
          <a:blip r:embed="rId11">
            <a:alphaModFix/>
          </a:blip>
          <a:srcRect b="0" l="-57" r="-57" t="0"/>
          <a:stretch/>
        </p:blipFill>
        <p:spPr>
          <a:xfrm>
            <a:off x="6572707" y="3381451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6953098" y="3362249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Alerting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6953098" y="3590849"/>
            <a:ext cx="44577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Define SLO-based alerts (e.g., "Error rate &gt; 1% for 5m"). Establish an on-call rotation and public status page.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707" y="42867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 txBox="1"/>
          <p:nvPr/>
        </p:nvSpPr>
        <p:spPr>
          <a:xfrm>
            <a:off x="6953098" y="4267505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Recommended Tool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7139635" y="4496105"/>
            <a:ext cx="4271162" cy="857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Prometheus / Grafana (Metrics)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Loki / ELK Stack (Logs)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Sentry (Exception Tracking)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Custom On-Chain Dashboard (Business Logic)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7"/>
          <p:cNvPicPr preferRelativeResize="0"/>
          <p:nvPr/>
        </p:nvPicPr>
        <p:blipFill rotWithShape="1">
          <a:blip r:embed="rId13">
            <a:alphaModFix/>
          </a:blip>
          <a:srcRect b="0" l="-2571" r="-2571" t="0"/>
          <a:stretch/>
        </p:blipFill>
        <p:spPr>
          <a:xfrm>
            <a:off x="6953098" y="4548226"/>
            <a:ext cx="105156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6" name="Google Shape;216;p7"/>
          <p:cNvPicPr preferRelativeResize="0"/>
          <p:nvPr/>
        </p:nvPicPr>
        <p:blipFill rotWithShape="1">
          <a:blip r:embed="rId13">
            <a:alphaModFix/>
          </a:blip>
          <a:srcRect b="0" l="-2571" r="-2571" t="0"/>
          <a:stretch/>
        </p:blipFill>
        <p:spPr>
          <a:xfrm>
            <a:off x="6953098" y="4761281"/>
            <a:ext cx="105156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7" name="Google Shape;217;p7"/>
          <p:cNvPicPr preferRelativeResize="0"/>
          <p:nvPr/>
        </p:nvPicPr>
        <p:blipFill rotWithShape="1">
          <a:blip r:embed="rId13">
            <a:alphaModFix/>
          </a:blip>
          <a:srcRect b="0" l="-2571" r="-2571" t="0"/>
          <a:stretch/>
        </p:blipFill>
        <p:spPr>
          <a:xfrm>
            <a:off x="6953098" y="4974336"/>
            <a:ext cx="105156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7"/>
          <p:cNvPicPr preferRelativeResize="0"/>
          <p:nvPr/>
        </p:nvPicPr>
        <p:blipFill rotWithShape="1">
          <a:blip r:embed="rId13">
            <a:alphaModFix/>
          </a:blip>
          <a:srcRect b="0" l="-2571" r="-2571" t="0"/>
          <a:stretch/>
        </p:blipFill>
        <p:spPr>
          <a:xfrm>
            <a:off x="6953098" y="5188306"/>
            <a:ext cx="105156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8"/>
          <p:cNvPicPr preferRelativeResize="0"/>
          <p:nvPr/>
        </p:nvPicPr>
        <p:blipFill rotWithShape="1">
          <a:blip r:embed="rId3">
            <a:alphaModFix/>
          </a:blip>
          <a:srcRect b="0" l="-76" r="-76" t="0"/>
          <a:stretch/>
        </p:blipFill>
        <p:spPr>
          <a:xfrm>
            <a:off x="9810598" y="-476402"/>
            <a:ext cx="321960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8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1047902" y="1904695"/>
            <a:ext cx="9144000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8"/>
          <p:cNvPicPr preferRelativeResize="0"/>
          <p:nvPr/>
        </p:nvPicPr>
        <p:blipFill rotWithShape="1">
          <a:blip r:embed="rId5">
            <a:alphaModFix/>
          </a:blip>
          <a:srcRect b="-401" l="0" r="0" t="-401"/>
          <a:stretch/>
        </p:blipFill>
        <p:spPr>
          <a:xfrm>
            <a:off x="571500" y="3429000"/>
            <a:ext cx="11048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/>
          <p:nvPr/>
        </p:nvSpPr>
        <p:spPr>
          <a:xfrm>
            <a:off x="571500" y="4000500"/>
            <a:ext cx="3429000" cy="2229307"/>
          </a:xfrm>
          <a:prstGeom prst="roundRect">
            <a:avLst>
              <a:gd fmla="val 2805" name="adj"/>
            </a:avLst>
          </a:prstGeom>
          <a:solidFill>
            <a:srgbClr val="FFFFFF"/>
          </a:solidFill>
          <a:ln>
            <a:noFill/>
          </a:ln>
          <a:effectLst>
            <a:outerShdw blurRad="1397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71500" y="4000500"/>
            <a:ext cx="3429000" cy="38405"/>
          </a:xfrm>
          <a:prstGeom prst="roundRect">
            <a:avLst>
              <a:gd fmla="val 162799" name="adj"/>
            </a:avLst>
          </a:prstGeom>
          <a:solidFill>
            <a:srgbClr val="E91E8C"/>
          </a:solidFill>
          <a:ln cap="flat" cmpd="sng" w="12700">
            <a:solidFill>
              <a:srgbClr val="E91E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4381805" y="4000500"/>
            <a:ext cx="3429000" cy="2229307"/>
          </a:xfrm>
          <a:prstGeom prst="roundRect">
            <a:avLst>
              <a:gd fmla="val 2805" name="adj"/>
            </a:avLst>
          </a:prstGeom>
          <a:solidFill>
            <a:srgbClr val="FFFFFF"/>
          </a:solidFill>
          <a:ln>
            <a:noFill/>
          </a:ln>
          <a:effectLst>
            <a:outerShdw blurRad="1397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381805" y="4000500"/>
            <a:ext cx="3429000" cy="38405"/>
          </a:xfrm>
          <a:prstGeom prst="roundRect">
            <a:avLst>
              <a:gd fmla="val 162799" name="adj"/>
            </a:avLst>
          </a:prstGeom>
          <a:solidFill>
            <a:srgbClr val="00ADEF"/>
          </a:solidFill>
          <a:ln cap="flat" cmpd="sng" w="12700">
            <a:solidFill>
              <a:srgbClr val="00A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8191195" y="4000500"/>
            <a:ext cx="3429000" cy="2229307"/>
          </a:xfrm>
          <a:prstGeom prst="roundRect">
            <a:avLst>
              <a:gd fmla="val 2805" name="adj"/>
            </a:avLst>
          </a:prstGeom>
          <a:solidFill>
            <a:srgbClr val="FFFFFF"/>
          </a:solidFill>
          <a:ln>
            <a:noFill/>
          </a:ln>
          <a:effectLst>
            <a:outerShdw blurRad="1397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8191195" y="4000500"/>
            <a:ext cx="3429000" cy="38405"/>
          </a:xfrm>
          <a:prstGeom prst="roundRect">
            <a:avLst>
              <a:gd fmla="val 162799" name="adj"/>
            </a:avLst>
          </a:prstGeom>
          <a:solidFill>
            <a:srgbClr val="FDB913"/>
          </a:solidFill>
          <a:ln cap="flat" cmpd="sng" w="12700">
            <a:solidFill>
              <a:srgbClr val="FDB91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8"/>
          <p:cNvPicPr preferRelativeResize="0"/>
          <p:nvPr/>
        </p:nvPicPr>
        <p:blipFill rotWithShape="1">
          <a:blip r:embed="rId6">
            <a:alphaModFix/>
          </a:blip>
          <a:srcRect b="-384" l="0" r="0" t="-384"/>
          <a:stretch/>
        </p:blipFill>
        <p:spPr>
          <a:xfrm>
            <a:off x="571500" y="952805"/>
            <a:ext cx="952805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1695" y="161940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3047695" y="1619402"/>
            <a:ext cx="571500" cy="5715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5333695" y="1619402"/>
            <a:ext cx="571500" cy="5715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7619695" y="1619402"/>
            <a:ext cx="571500" cy="5715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9905695" y="1619402"/>
            <a:ext cx="571500" cy="5715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571500" y="381305"/>
            <a:ext cx="1123980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Error Handling &amp; Recovery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857707" y="1238098"/>
            <a:ext cx="45912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DE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ADEF"/>
                </a:solidFill>
                <a:latin typeface="Montserrat"/>
                <a:ea typeface="Montserrat"/>
                <a:cs typeface="Montserrat"/>
                <a:sym typeface="Montserrat"/>
              </a:rPr>
              <a:t>OPERATIONAL LIFECYCLE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1252728"/>
            <a:ext cx="190195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5256" y="1762049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8"/>
          <p:cNvSpPr txBox="1"/>
          <p:nvPr/>
        </p:nvSpPr>
        <p:spPr>
          <a:xfrm>
            <a:off x="342900" y="233354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Detect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352044" y="2562149"/>
            <a:ext cx="13908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Monitoring &amp; Alerts triggers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91256" y="1762049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 txBox="1"/>
          <p:nvPr/>
        </p:nvSpPr>
        <p:spPr>
          <a:xfrm>
            <a:off x="2628900" y="233354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Classify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2638044" y="2562149"/>
            <a:ext cx="13908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Severity &amp; Blast Radius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77256" y="1762049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 txBox="1"/>
          <p:nvPr/>
        </p:nvSpPr>
        <p:spPr>
          <a:xfrm>
            <a:off x="4914900" y="233354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Contain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4924044" y="2562149"/>
            <a:ext cx="13908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Circuit breakers &amp; Feature flags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63256" y="1762049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 txBox="1"/>
          <p:nvPr/>
        </p:nvSpPr>
        <p:spPr>
          <a:xfrm>
            <a:off x="7200900" y="233354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Recover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7210044" y="2562149"/>
            <a:ext cx="13908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Retry w/ backoff, Idempotency keys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8"/>
          <p:cNvPicPr preferRelativeResize="0"/>
          <p:nvPr/>
        </p:nvPicPr>
        <p:blipFill rotWithShape="1">
          <a:blip r:embed="rId13">
            <a:alphaModFix/>
          </a:blip>
          <a:srcRect b="0" l="-1118" r="-1118" t="0"/>
          <a:stretch/>
        </p:blipFill>
        <p:spPr>
          <a:xfrm>
            <a:off x="10082174" y="1762049"/>
            <a:ext cx="219456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8"/>
          <p:cNvSpPr txBox="1"/>
          <p:nvPr/>
        </p:nvSpPr>
        <p:spPr>
          <a:xfrm>
            <a:off x="9486900" y="233354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5. Learn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9496044" y="2562149"/>
            <a:ext cx="13908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Post-incident review &amp; Action items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886054" y="3619195"/>
            <a:ext cx="45628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913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DB913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PATTERNS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8"/>
          <p:cNvPicPr preferRelativeResize="0"/>
          <p:nvPr/>
        </p:nvPicPr>
        <p:blipFill rotWithShape="1">
          <a:blip r:embed="rId14">
            <a:alphaModFix/>
          </a:blip>
          <a:srcRect b="0" l="-1282" r="-1282" t="0"/>
          <a:stretch/>
        </p:blipFill>
        <p:spPr>
          <a:xfrm>
            <a:off x="571500" y="3633826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 txBox="1"/>
          <p:nvPr/>
        </p:nvSpPr>
        <p:spPr>
          <a:xfrm>
            <a:off x="1009498" y="4190695"/>
            <a:ext cx="29151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Safe Retries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761695" y="4496105"/>
            <a:ext cx="31629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Never retry a transaction blindly.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952805" y="4791456"/>
            <a:ext cx="307512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Use </a:t>
            </a:r>
            <a:r>
              <a:rPr b="1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Idempotency Keys</a:t>
            </a: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 in backend APIs.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952805" y="5004511"/>
            <a:ext cx="293431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Check for "Transaction already in mempool" errors.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952805" y="5431536"/>
            <a:ext cx="2971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Implement exponential backoff.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6" name="Google Shape;266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61695" y="420258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 txBox="1"/>
          <p:nvPr/>
        </p:nvSpPr>
        <p:spPr>
          <a:xfrm>
            <a:off x="4819802" y="4190695"/>
            <a:ext cx="29151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Compensating Tx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4572000" y="4496105"/>
            <a:ext cx="3124505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Since blockchains don't have "rollback" in the DB sense: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4762195" y="4990795"/>
            <a:ext cx="307512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Design "Undo" actions (e.g., Refund).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4762195" y="5204765"/>
            <a:ext cx="293431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Maintain "Pending" states in UI until block confirmation.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4762195" y="5631790"/>
            <a:ext cx="2971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Use Dead Letter Queues (DLQ).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72000" y="420258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 txBox="1"/>
          <p:nvPr/>
        </p:nvSpPr>
        <p:spPr>
          <a:xfrm>
            <a:off x="8610905" y="4190695"/>
            <a:ext cx="293431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Runbooks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8382305" y="4496105"/>
            <a:ext cx="355518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Pre-defined procedures for common failures: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8572500" y="4791456"/>
            <a:ext cx="2971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Stuck UTxO / Wallet contention.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8572500" y="5004511"/>
            <a:ext cx="2971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Key compromise / Rotation.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8572500" y="5217566"/>
            <a:ext cx="2971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Provider outage (switch to backup).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8"/>
          <p:cNvPicPr preferRelativeResize="0"/>
          <p:nvPr/>
        </p:nvPicPr>
        <p:blipFill rotWithShape="1">
          <a:blip r:embed="rId17">
            <a:alphaModFix/>
          </a:blip>
          <a:srcRect b="0" l="-760" r="-760" t="0"/>
          <a:stretch/>
        </p:blipFill>
        <p:spPr>
          <a:xfrm>
            <a:off x="8382305" y="4202582"/>
            <a:ext cx="152705" cy="171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9"/>
          <p:cNvPicPr preferRelativeResize="0"/>
          <p:nvPr/>
        </p:nvPicPr>
        <p:blipFill rotWithShape="1">
          <a:blip r:embed="rId3">
            <a:alphaModFix/>
          </a:blip>
          <a:srcRect b="0" l="-76" r="-76" t="0"/>
          <a:stretch/>
        </p:blipFill>
        <p:spPr>
          <a:xfrm>
            <a:off x="9525305" y="-190195"/>
            <a:ext cx="3219602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/>
          <p:nvPr/>
        </p:nvSpPr>
        <p:spPr>
          <a:xfrm>
            <a:off x="571500" y="1714500"/>
            <a:ext cx="5333695" cy="4572000"/>
          </a:xfrm>
          <a:prstGeom prst="roundRect">
            <a:avLst>
              <a:gd fmla="val 667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6286500" y="1714500"/>
            <a:ext cx="5352898" cy="4591202"/>
          </a:xfrm>
          <a:prstGeom prst="roundRect">
            <a:avLst>
              <a:gd fmla="val 661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9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571500" y="952805"/>
            <a:ext cx="952805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" name="Google Shape;290;p9"/>
          <p:cNvPicPr preferRelativeResize="0"/>
          <p:nvPr/>
        </p:nvPicPr>
        <p:blipFill rotWithShape="1">
          <a:blip r:embed="rId5">
            <a:alphaModFix/>
          </a:blip>
          <a:srcRect b="0" l="-77" r="-77" t="0"/>
          <a:stretch/>
        </p:blipFill>
        <p:spPr>
          <a:xfrm>
            <a:off x="6286500" y="6191402"/>
            <a:ext cx="5333695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9"/>
          <p:cNvSpPr txBox="1"/>
          <p:nvPr/>
        </p:nvSpPr>
        <p:spPr>
          <a:xfrm>
            <a:off x="571500" y="381305"/>
            <a:ext cx="1123980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Scaling Considerations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571500" y="1143000"/>
            <a:ext cx="11163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300"/>
              <a:buFont typeface="Open Sans"/>
              <a:buNone/>
            </a:pPr>
            <a:r>
              <a:rPr b="0" i="1" lang="en-US" sz="13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"Architecting for growth: Managing state, throughput, and costs before the pilot expands."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57707" y="2180844"/>
            <a:ext cx="2333549" cy="19202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857707" y="1904695"/>
            <a:ext cx="2427732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UTxO &amp;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5" name="Google Shape;295;p9"/>
          <p:cNvPicPr preferRelativeResize="0"/>
          <p:nvPr/>
        </p:nvPicPr>
        <p:blipFill rotWithShape="1">
          <a:blip r:embed="rId6">
            <a:alphaModFix/>
          </a:blip>
          <a:srcRect b="-45" l="0" r="0" t="-45"/>
          <a:stretch/>
        </p:blipFill>
        <p:spPr>
          <a:xfrm>
            <a:off x="857707" y="2381098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9"/>
          <p:cNvSpPr txBox="1"/>
          <p:nvPr/>
        </p:nvSpPr>
        <p:spPr>
          <a:xfrm>
            <a:off x="1238098" y="2361895"/>
            <a:ext cx="44010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UTxO Management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1238098" y="2590495"/>
            <a:ext cx="4362602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Pre-split UTxOs to support concurrency. Implement wallet sharding and deterministic input selection algorithms.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9"/>
          <p:cNvPicPr preferRelativeResize="0"/>
          <p:nvPr/>
        </p:nvPicPr>
        <p:blipFill rotWithShape="1">
          <a:blip r:embed="rId7">
            <a:alphaModFix/>
          </a:blip>
          <a:srcRect b="0" l="-80" r="-80" t="0"/>
          <a:stretch/>
        </p:blipFill>
        <p:spPr>
          <a:xfrm>
            <a:off x="857707" y="3238805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 txBox="1"/>
          <p:nvPr/>
        </p:nvSpPr>
        <p:spPr>
          <a:xfrm>
            <a:off x="1238098" y="3219602"/>
            <a:ext cx="44010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Contention Avoidance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1238098" y="3448202"/>
            <a:ext cx="4362602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Prevent locking via parallel stewards, transaction batching, and time-windowed operations.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707" y="40955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9"/>
          <p:cNvSpPr txBox="1"/>
          <p:nvPr/>
        </p:nvSpPr>
        <p:spPr>
          <a:xfrm>
            <a:off x="1238098" y="4076395"/>
            <a:ext cx="44010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Throughput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1238098" y="4304995"/>
            <a:ext cx="4362602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Deploy async queues (Bull/Redis), strict rate limits, and back-pressure mechanisms to handle load spikes.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572707" y="2180844"/>
            <a:ext cx="2352751" cy="19202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 txBox="1"/>
          <p:nvPr/>
        </p:nvSpPr>
        <p:spPr>
          <a:xfrm>
            <a:off x="6572707" y="1904695"/>
            <a:ext cx="25749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DE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ADEF"/>
                </a:solidFill>
                <a:latin typeface="Montserrat"/>
                <a:ea typeface="Montserrat"/>
                <a:cs typeface="Montserrat"/>
                <a:sym typeface="Montserrat"/>
              </a:rPr>
              <a:t>COST, L2 &amp; VALIDATION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707" y="2381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 txBox="1"/>
          <p:nvPr/>
        </p:nvSpPr>
        <p:spPr>
          <a:xfrm>
            <a:off x="6953098" y="2361895"/>
            <a:ext cx="44010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Cost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6953098" y="2590495"/>
            <a:ext cx="4362602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Establish fee budgets, optimize transaction batch sizing, and right-size infrastructure provider plans.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9" name="Google Shape;309;p9"/>
          <p:cNvPicPr preferRelativeResize="0"/>
          <p:nvPr/>
        </p:nvPicPr>
        <p:blipFill rotWithShape="1">
          <a:blip r:embed="rId10">
            <a:alphaModFix/>
          </a:blip>
          <a:srcRect b="-45" l="0" r="0" t="-45"/>
          <a:stretch/>
        </p:blipFill>
        <p:spPr>
          <a:xfrm>
            <a:off x="6572707" y="3238805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9"/>
          <p:cNvSpPr txBox="1"/>
          <p:nvPr/>
        </p:nvSpPr>
        <p:spPr>
          <a:xfrm>
            <a:off x="6953098" y="3219602"/>
            <a:ext cx="44010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Layer 2: Hydra Heads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6953098" y="3448202"/>
            <a:ext cx="4362602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Leverage Hydra for high-frequency micro-transactions. Ensure automated orchestration for head commits/decommits.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9"/>
          <p:cNvPicPr preferRelativeResize="0"/>
          <p:nvPr/>
        </p:nvPicPr>
        <p:blipFill rotWithShape="1">
          <a:blip r:embed="rId11">
            <a:alphaModFix/>
          </a:blip>
          <a:srcRect b="0" l="-57" r="-57" t="0"/>
          <a:stretch/>
        </p:blipFill>
        <p:spPr>
          <a:xfrm>
            <a:off x="6572707" y="4095598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9"/>
          <p:cNvSpPr txBox="1"/>
          <p:nvPr/>
        </p:nvSpPr>
        <p:spPr>
          <a:xfrm>
            <a:off x="6953098" y="4076395"/>
            <a:ext cx="44010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Performance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6953098" y="4304995"/>
            <a:ext cx="4362602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Benchmark target TPS, verify p95 confirmation times under load, and establish strict CPU/memory baselines.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10"/>
          <p:cNvPicPr preferRelativeResize="0"/>
          <p:nvPr/>
        </p:nvPicPr>
        <p:blipFill rotWithShape="1">
          <a:blip r:embed="rId3">
            <a:alphaModFix/>
          </a:blip>
          <a:srcRect b="0" l="-76" r="-76" t="0"/>
          <a:stretch/>
        </p:blipFill>
        <p:spPr>
          <a:xfrm>
            <a:off x="9810598" y="-476402"/>
            <a:ext cx="3219602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0"/>
          <p:cNvSpPr/>
          <p:nvPr/>
        </p:nvSpPr>
        <p:spPr>
          <a:xfrm>
            <a:off x="571500" y="1333195"/>
            <a:ext cx="5372100" cy="4762195"/>
          </a:xfrm>
          <a:prstGeom prst="roundRect">
            <a:avLst>
              <a:gd fmla="val 614" name="adj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571500" y="1333195"/>
            <a:ext cx="38405" cy="4762195"/>
          </a:xfrm>
          <a:prstGeom prst="roundRect">
            <a:avLst>
              <a:gd fmla="val 76190" name="adj"/>
            </a:avLst>
          </a:prstGeom>
          <a:solidFill>
            <a:srgbClr val="00ADEF"/>
          </a:solidFill>
          <a:ln cap="flat" cmpd="sng" w="12700">
            <a:solidFill>
              <a:srgbClr val="00A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6286500" y="1333195"/>
            <a:ext cx="5333695" cy="4762195"/>
          </a:xfrm>
          <a:prstGeom prst="roundRect">
            <a:avLst>
              <a:gd fmla="val 614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10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571500" y="952805"/>
            <a:ext cx="952805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7" name="Google Shape;327;p10"/>
          <p:cNvPicPr preferRelativeResize="0"/>
          <p:nvPr/>
        </p:nvPicPr>
        <p:blipFill rotWithShape="1">
          <a:blip r:embed="rId5">
            <a:alphaModFix/>
          </a:blip>
          <a:srcRect b="0" l="-77" r="-77" t="0"/>
          <a:stretch/>
        </p:blipFill>
        <p:spPr>
          <a:xfrm>
            <a:off x="6286500" y="6001207"/>
            <a:ext cx="5333695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0"/>
          <p:cNvSpPr txBox="1"/>
          <p:nvPr/>
        </p:nvSpPr>
        <p:spPr>
          <a:xfrm>
            <a:off x="571500" y="381305"/>
            <a:ext cx="1123980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User Experience in Production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9" name="Google Shape;32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695" y="1524305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 txBox="1"/>
          <p:nvPr/>
        </p:nvSpPr>
        <p:spPr>
          <a:xfrm>
            <a:off x="1238098" y="1524305"/>
            <a:ext cx="44010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DEF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0ADEF"/>
                </a:solidFill>
                <a:latin typeface="Montserrat"/>
                <a:ea typeface="Montserrat"/>
                <a:cs typeface="Montserrat"/>
                <a:sym typeface="Montserrat"/>
              </a:rPr>
              <a:t>UX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1" name="Google Shape;331;p10"/>
          <p:cNvPicPr preferRelativeResize="0"/>
          <p:nvPr/>
        </p:nvPicPr>
        <p:blipFill rotWithShape="1">
          <a:blip r:embed="rId7">
            <a:alphaModFix/>
          </a:blip>
          <a:srcRect b="0" l="-1923" r="-1923" t="0"/>
          <a:stretch/>
        </p:blipFill>
        <p:spPr>
          <a:xfrm>
            <a:off x="761695" y="2095805"/>
            <a:ext cx="1234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 txBox="1"/>
          <p:nvPr/>
        </p:nvSpPr>
        <p:spPr>
          <a:xfrm>
            <a:off x="1143000" y="2076602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Clear Transaction States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1143000" y="2343607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Pending → Confirmed → Failed. Provide clear guidance on failures (e.g., "Insufficient balance" vs "Network error").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10"/>
          <p:cNvPicPr preferRelativeResize="0"/>
          <p:nvPr/>
        </p:nvPicPr>
        <p:blipFill rotWithShape="1">
          <a:blip r:embed="rId8">
            <a:alphaModFix/>
          </a:blip>
          <a:srcRect b="0" l="-1648" r="-1648" t="0"/>
          <a:stretch/>
        </p:blipFill>
        <p:spPr>
          <a:xfrm>
            <a:off x="761695" y="2952598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0"/>
          <p:cNvSpPr txBox="1"/>
          <p:nvPr/>
        </p:nvSpPr>
        <p:spPr>
          <a:xfrm>
            <a:off x="1143000" y="2933395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Optimistic 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1143000" y="3200400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Show success immediately while processing in background, with robust rollback mechanisms if on-chain tx fails.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0"/>
          <p:cNvPicPr preferRelativeResize="0"/>
          <p:nvPr/>
        </p:nvPicPr>
        <p:blipFill rotWithShape="1">
          <a:blip r:embed="rId9">
            <a:alphaModFix/>
          </a:blip>
          <a:srcRect b="0" l="-1648" r="-1648" t="0"/>
          <a:stretch/>
        </p:blipFill>
        <p:spPr>
          <a:xfrm>
            <a:off x="761695" y="390540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0"/>
          <p:cNvSpPr txBox="1"/>
          <p:nvPr/>
        </p:nvSpPr>
        <p:spPr>
          <a:xfrm>
            <a:off x="1143000" y="3886200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Wallet-less Verification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1143000" y="4153205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Public QR-based flows for verifiers that don't require wallet connection or gas fees.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1695" y="4858207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0"/>
          <p:cNvSpPr txBox="1"/>
          <p:nvPr/>
        </p:nvSpPr>
        <p:spPr>
          <a:xfrm>
            <a:off x="1143000" y="4839005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Low-Connectivity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1143000" y="5105095"/>
            <a:ext cx="44577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USSD/SMS integration for feature phone users. Offline-first architecture for field agents.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10"/>
          <p:cNvPicPr preferRelativeResize="0"/>
          <p:nvPr/>
        </p:nvPicPr>
        <p:blipFill rotWithShape="1">
          <a:blip r:embed="rId11">
            <a:alphaModFix/>
          </a:blip>
          <a:srcRect b="0" l="-90" r="-90" t="0"/>
          <a:stretch/>
        </p:blipFill>
        <p:spPr>
          <a:xfrm>
            <a:off x="6572707" y="1524305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 txBox="1"/>
          <p:nvPr/>
        </p:nvSpPr>
        <p:spPr>
          <a:xfrm>
            <a:off x="7048195" y="1524305"/>
            <a:ext cx="44010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OPERATIONAL ALIGNMENT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707" y="209580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0"/>
          <p:cNvSpPr txBox="1"/>
          <p:nvPr/>
        </p:nvSpPr>
        <p:spPr>
          <a:xfrm>
            <a:off x="6953098" y="2076602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Support Playbooks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6953098" y="2343607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Defined escalation paths for failed transactions, key loss, and user errors.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8" name="Google Shape;348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707" y="29525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0"/>
          <p:cNvSpPr txBox="1"/>
          <p:nvPr/>
        </p:nvSpPr>
        <p:spPr>
          <a:xfrm>
            <a:off x="6953098" y="2933395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Compliance &amp; Consent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 txBox="1"/>
          <p:nvPr/>
        </p:nvSpPr>
        <p:spPr>
          <a:xfrm>
            <a:off x="6953098" y="3200400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Integrated KYC flows and explicit consent screens for on-chain data anchoring.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707" y="390540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 txBox="1"/>
          <p:nvPr/>
        </p:nvSpPr>
        <p:spPr>
          <a:xfrm>
            <a:off x="6953098" y="3886200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Field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6953098" y="4153205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Training materials for field partners on digital wallet usage and troubleshooting.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4" name="Google Shape;354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707" y="48582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0"/>
          <p:cNvSpPr txBox="1"/>
          <p:nvPr/>
        </p:nvSpPr>
        <p:spPr>
          <a:xfrm>
            <a:off x="6953098" y="4839005"/>
            <a:ext cx="4305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Fraud Reporting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6953098" y="5105095"/>
            <a:ext cx="42675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Open Sans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Accessible channels for reporting misuse or suspicious activity during pilot.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1"/>
          <p:cNvPicPr preferRelativeResize="0"/>
          <p:nvPr/>
        </p:nvPicPr>
        <p:blipFill rotWithShape="1">
          <a:blip r:embed="rId3">
            <a:alphaModFix/>
          </a:blip>
          <a:srcRect b="0" l="-76" r="-76" t="0"/>
          <a:stretch/>
        </p:blipFill>
        <p:spPr>
          <a:xfrm>
            <a:off x="9810598" y="-476402"/>
            <a:ext cx="3219602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1"/>
          <p:cNvSpPr/>
          <p:nvPr/>
        </p:nvSpPr>
        <p:spPr>
          <a:xfrm>
            <a:off x="571500" y="1333195"/>
            <a:ext cx="3571646" cy="1524305"/>
          </a:xfrm>
          <a:prstGeom prst="roundRect">
            <a:avLst>
              <a:gd fmla="val 599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571500" y="1333195"/>
            <a:ext cx="47549" cy="1524305"/>
          </a:xfrm>
          <a:prstGeom prst="roundRect">
            <a:avLst>
              <a:gd fmla="val 192307" name="adj"/>
            </a:avLst>
          </a:prstGeom>
          <a:solidFill>
            <a:srgbClr val="00ADEF"/>
          </a:solidFill>
          <a:ln cap="flat" cmpd="sng" w="12700">
            <a:solidFill>
              <a:srgbClr val="00A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4334256" y="1333195"/>
            <a:ext cx="3571646" cy="1524305"/>
          </a:xfrm>
          <a:prstGeom prst="roundRect">
            <a:avLst>
              <a:gd fmla="val 599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4334256" y="1333195"/>
            <a:ext cx="47549" cy="1524305"/>
          </a:xfrm>
          <a:prstGeom prst="roundRect">
            <a:avLst>
              <a:gd fmla="val 192307" name="adj"/>
            </a:avLst>
          </a:prstGeom>
          <a:solidFill>
            <a:srgbClr val="E91E8C"/>
          </a:solidFill>
          <a:ln cap="flat" cmpd="sng" w="12700">
            <a:solidFill>
              <a:srgbClr val="E91E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8096098" y="1333195"/>
            <a:ext cx="3571646" cy="1524305"/>
          </a:xfrm>
          <a:prstGeom prst="roundRect">
            <a:avLst>
              <a:gd fmla="val 599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8096098" y="1333195"/>
            <a:ext cx="47549" cy="1524305"/>
          </a:xfrm>
          <a:prstGeom prst="roundRect">
            <a:avLst>
              <a:gd fmla="val 192307" name="adj"/>
            </a:avLst>
          </a:prstGeom>
          <a:solidFill>
            <a:srgbClr val="FDB913"/>
          </a:solidFill>
          <a:ln cap="flat" cmpd="sng" w="12700">
            <a:solidFill>
              <a:srgbClr val="FDB91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571500" y="3047695"/>
            <a:ext cx="3571646" cy="1524305"/>
          </a:xfrm>
          <a:prstGeom prst="roundRect">
            <a:avLst>
              <a:gd fmla="val 599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571500" y="3047695"/>
            <a:ext cx="47549" cy="1524305"/>
          </a:xfrm>
          <a:prstGeom prst="roundRect">
            <a:avLst>
              <a:gd fmla="val 192307" name="adj"/>
            </a:avLst>
          </a:prstGeom>
          <a:solidFill>
            <a:srgbClr val="006BA6"/>
          </a:solidFill>
          <a:ln cap="flat" cmpd="sng" w="12700">
            <a:solidFill>
              <a:srgbClr val="006B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4334256" y="3047695"/>
            <a:ext cx="3571646" cy="1524305"/>
          </a:xfrm>
          <a:prstGeom prst="roundRect">
            <a:avLst>
              <a:gd fmla="val 599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4334256" y="3047695"/>
            <a:ext cx="47549" cy="1524305"/>
          </a:xfrm>
          <a:prstGeom prst="roundRect">
            <a:avLst>
              <a:gd fmla="val 192307" name="adj"/>
            </a:avLst>
          </a:prstGeom>
          <a:solidFill>
            <a:srgbClr val="00ADEF"/>
          </a:solidFill>
          <a:ln cap="flat" cmpd="sng" w="12700">
            <a:solidFill>
              <a:srgbClr val="00A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8096098" y="3047695"/>
            <a:ext cx="3571646" cy="1524305"/>
          </a:xfrm>
          <a:prstGeom prst="roundRect">
            <a:avLst>
              <a:gd fmla="val 599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8096098" y="3047695"/>
            <a:ext cx="47549" cy="1524305"/>
          </a:xfrm>
          <a:prstGeom prst="roundRect">
            <a:avLst>
              <a:gd fmla="val 192307" name="adj"/>
            </a:avLst>
          </a:prstGeom>
          <a:solidFill>
            <a:srgbClr val="E91E8C"/>
          </a:solidFill>
          <a:ln cap="flat" cmpd="sng" w="12700">
            <a:solidFill>
              <a:srgbClr val="E91E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571500" y="4762195"/>
            <a:ext cx="11087100" cy="1371600"/>
          </a:xfrm>
          <a:prstGeom prst="roundRect">
            <a:avLst>
              <a:gd fmla="val 7407" name="adj"/>
            </a:avLst>
          </a:prstGeom>
          <a:solidFill>
            <a:srgbClr val="FFFFFF">
              <a:alpha val="10196"/>
            </a:srgbClr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p11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571500" y="952805"/>
            <a:ext cx="95280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1"/>
          <p:cNvSpPr txBox="1"/>
          <p:nvPr/>
        </p:nvSpPr>
        <p:spPr>
          <a:xfrm>
            <a:off x="571500" y="381305"/>
            <a:ext cx="1123980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Pilot Metrics &amp; Success Criteria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0" name="Google Shape;38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695" y="14767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1"/>
          <p:cNvSpPr txBox="1"/>
          <p:nvPr/>
        </p:nvSpPr>
        <p:spPr>
          <a:xfrm>
            <a:off x="1143000" y="1476756"/>
            <a:ext cx="287304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RELIABILITY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958291" y="1857146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Tx Success Rate &gt; 99.5%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958291" y="2115007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p95 Confirmation &lt; 45s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958291" y="2371954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System Uptime &gt; 99.9%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695" y="1900123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6" name="Google Shape;38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695" y="215707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7" name="Google Shape;38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695" y="241493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8" name="Google Shape;38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4451" y="14767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1"/>
          <p:cNvSpPr txBox="1"/>
          <p:nvPr/>
        </p:nvSpPr>
        <p:spPr>
          <a:xfrm>
            <a:off x="4905756" y="1476756"/>
            <a:ext cx="287304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4721047" y="1857146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0 Critical Vulnerabilities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 txBox="1"/>
          <p:nvPr/>
        </p:nvSpPr>
        <p:spPr>
          <a:xfrm>
            <a:off x="4721047" y="2115007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Incident Response &lt; 1hr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4721047" y="2371954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100% Key Rotation Success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4451" y="1900123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4" name="Google Shape;394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4451" y="215707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5" name="Google Shape;39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4451" y="241493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11"/>
          <p:cNvPicPr preferRelativeResize="0"/>
          <p:nvPr/>
        </p:nvPicPr>
        <p:blipFill rotWithShape="1">
          <a:blip r:embed="rId9">
            <a:alphaModFix/>
          </a:blip>
          <a:srcRect b="0" l="-57" r="-57" t="0"/>
          <a:stretch/>
        </p:blipFill>
        <p:spPr>
          <a:xfrm>
            <a:off x="8287207" y="1476756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1"/>
          <p:cNvSpPr txBox="1"/>
          <p:nvPr/>
        </p:nvSpPr>
        <p:spPr>
          <a:xfrm>
            <a:off x="8667598" y="1476756"/>
            <a:ext cx="287304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DATA INTEGRITY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8483803" y="1857146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100% On/Off-Chain Hash Match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 txBox="1"/>
          <p:nvPr/>
        </p:nvSpPr>
        <p:spPr>
          <a:xfrm>
            <a:off x="8483803" y="2115007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Verification Pass Rate &gt; 95%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 txBox="1"/>
          <p:nvPr/>
        </p:nvSpPr>
        <p:spPr>
          <a:xfrm>
            <a:off x="8483803" y="2371954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No Orphaned Metadata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1" name="Google Shape;401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87207" y="1900123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2" name="Google Shape;402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87207" y="215707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3" name="Google Shape;403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87207" y="241493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4" name="Google Shape;404;p11"/>
          <p:cNvPicPr preferRelativeResize="0"/>
          <p:nvPr/>
        </p:nvPicPr>
        <p:blipFill rotWithShape="1">
          <a:blip r:embed="rId11">
            <a:alphaModFix/>
          </a:blip>
          <a:srcRect b="0" l="-80" r="-80" t="0"/>
          <a:stretch/>
        </p:blipFill>
        <p:spPr>
          <a:xfrm>
            <a:off x="761695" y="3191256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1"/>
          <p:cNvSpPr txBox="1"/>
          <p:nvPr/>
        </p:nvSpPr>
        <p:spPr>
          <a:xfrm>
            <a:off x="1143000" y="3191256"/>
            <a:ext cx="287304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ADOPTION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 txBox="1"/>
          <p:nvPr/>
        </p:nvSpPr>
        <p:spPr>
          <a:xfrm>
            <a:off x="958291" y="3571646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Active Daily Users (DAU)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 txBox="1"/>
          <p:nvPr/>
        </p:nvSpPr>
        <p:spPr>
          <a:xfrm>
            <a:off x="958291" y="3829507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Transaction Volume Growth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 txBox="1"/>
          <p:nvPr/>
        </p:nvSpPr>
        <p:spPr>
          <a:xfrm>
            <a:off x="958291" y="4086454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User Retention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9" name="Google Shape;409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1695" y="3614623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0" name="Google Shape;410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1695" y="387157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1" name="Google Shape;411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1695" y="412943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2" name="Google Shape;412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24451" y="31912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1"/>
          <p:cNvSpPr txBox="1"/>
          <p:nvPr/>
        </p:nvSpPr>
        <p:spPr>
          <a:xfrm>
            <a:off x="4905756" y="3191256"/>
            <a:ext cx="287304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COST &amp; EFFICIENCY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 txBox="1"/>
          <p:nvPr/>
        </p:nvSpPr>
        <p:spPr>
          <a:xfrm>
            <a:off x="4721047" y="3571646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Average Cost per Transaction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4721047" y="3829507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Cloud Infra Cost per 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 txBox="1"/>
          <p:nvPr/>
        </p:nvSpPr>
        <p:spPr>
          <a:xfrm>
            <a:off x="4721047" y="4086454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Operational Overhead Hours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7" name="Google Shape;41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4451" y="3614623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8" name="Google Shape;41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4451" y="387157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9" name="Google Shape;41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4451" y="412943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0" name="Google Shape;420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87207" y="31912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1"/>
          <p:cNvSpPr txBox="1"/>
          <p:nvPr/>
        </p:nvSpPr>
        <p:spPr>
          <a:xfrm>
            <a:off x="8667598" y="3191256"/>
            <a:ext cx="287304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SDG IMPACT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 txBox="1"/>
          <p:nvPr/>
        </p:nvSpPr>
        <p:spPr>
          <a:xfrm>
            <a:off x="8483803" y="3571646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Total Value Disbursed / Tracked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8483803" y="3829507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Credits Retired / Assets Issued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 txBox="1"/>
          <p:nvPr/>
        </p:nvSpPr>
        <p:spPr>
          <a:xfrm>
            <a:off x="8483803" y="4086454"/>
            <a:ext cx="306141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Verified Traceability Events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5" name="Google Shape;42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7207" y="3614623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6" name="Google Shape;42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7207" y="387157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7" name="Google Shape;42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7207" y="412943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1"/>
          <p:cNvSpPr txBox="1"/>
          <p:nvPr/>
        </p:nvSpPr>
        <p:spPr>
          <a:xfrm>
            <a:off x="1086307" y="49057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913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DB913"/>
                </a:solidFill>
                <a:latin typeface="Montserrat"/>
                <a:ea typeface="Montserrat"/>
                <a:cs typeface="Montserrat"/>
                <a:sym typeface="Montserrat"/>
              </a:rPr>
              <a:t>GO / NO-GO GATES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9" name="Google Shape;429;p11"/>
          <p:cNvPicPr preferRelativeResize="0"/>
          <p:nvPr/>
        </p:nvPicPr>
        <p:blipFill rotWithShape="1">
          <a:blip r:embed="rId15">
            <a:alphaModFix/>
          </a:blip>
          <a:srcRect b="0" l="-6154" r="-6154" t="0"/>
          <a:stretch/>
        </p:blipFill>
        <p:spPr>
          <a:xfrm>
            <a:off x="857707" y="4919472"/>
            <a:ext cx="133502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0" name="Google Shape;430;p11"/>
          <p:cNvPicPr preferRelativeResize="0"/>
          <p:nvPr/>
        </p:nvPicPr>
        <p:blipFill rotWithShape="1">
          <a:blip r:embed="rId16">
            <a:alphaModFix/>
          </a:blip>
          <a:srcRect b="0" l="-1648" r="-1648" t="0"/>
          <a:stretch/>
        </p:blipFill>
        <p:spPr>
          <a:xfrm>
            <a:off x="857707" y="5333695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1"/>
          <p:cNvSpPr txBox="1"/>
          <p:nvPr/>
        </p:nvSpPr>
        <p:spPr>
          <a:xfrm>
            <a:off x="1143000" y="5333695"/>
            <a:ext cx="2377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Pre-Pilot Security Audit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 txBox="1"/>
          <p:nvPr/>
        </p:nvSpPr>
        <p:spPr>
          <a:xfrm>
            <a:off x="1143000" y="5562295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Smart contracts &amp; infra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1"/>
          <p:cNvPicPr preferRelativeResize="0"/>
          <p:nvPr/>
        </p:nvPicPr>
        <p:blipFill rotWithShape="1">
          <a:blip r:embed="rId16">
            <a:alphaModFix/>
          </a:blip>
          <a:srcRect b="0" l="-1648" r="-1648" t="0"/>
          <a:stretch/>
        </p:blipFill>
        <p:spPr>
          <a:xfrm>
            <a:off x="3619195" y="5333695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1"/>
          <p:cNvSpPr txBox="1"/>
          <p:nvPr/>
        </p:nvSpPr>
        <p:spPr>
          <a:xfrm>
            <a:off x="3905402" y="5333695"/>
            <a:ext cx="2377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Load Test &amp; DR Drill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 txBox="1"/>
          <p:nvPr/>
        </p:nvSpPr>
        <p:spPr>
          <a:xfrm>
            <a:off x="3905402" y="5562295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Passed 1.5x expected 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6" name="Google Shape;436;p11"/>
          <p:cNvPicPr preferRelativeResize="0"/>
          <p:nvPr/>
        </p:nvPicPr>
        <p:blipFill rotWithShape="1">
          <a:blip r:embed="rId16">
            <a:alphaModFix/>
          </a:blip>
          <a:srcRect b="0" l="-1648" r="-1648" t="0"/>
          <a:stretch/>
        </p:blipFill>
        <p:spPr>
          <a:xfrm>
            <a:off x="6381598" y="5333695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1"/>
          <p:cNvSpPr txBox="1"/>
          <p:nvPr/>
        </p:nvSpPr>
        <p:spPr>
          <a:xfrm>
            <a:off x="6667805" y="5333695"/>
            <a:ext cx="2377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Legal &amp; 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 txBox="1"/>
          <p:nvPr/>
        </p:nvSpPr>
        <p:spPr>
          <a:xfrm>
            <a:off x="6667805" y="5562295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T&amp;Cs and Privacy signed off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p11"/>
          <p:cNvPicPr preferRelativeResize="0"/>
          <p:nvPr/>
        </p:nvPicPr>
        <p:blipFill rotWithShape="1">
          <a:blip r:embed="rId16">
            <a:alphaModFix/>
          </a:blip>
          <a:srcRect b="0" l="-1648" r="-1648" t="0"/>
          <a:stretch/>
        </p:blipFill>
        <p:spPr>
          <a:xfrm>
            <a:off x="9144000" y="5333695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1"/>
          <p:cNvSpPr txBox="1"/>
          <p:nvPr/>
        </p:nvSpPr>
        <p:spPr>
          <a:xfrm>
            <a:off x="9430207" y="5333695"/>
            <a:ext cx="20802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Operational Runbooks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 txBox="1"/>
          <p:nvPr/>
        </p:nvSpPr>
        <p:spPr>
          <a:xfrm>
            <a:off x="9430207" y="5562295"/>
            <a:ext cx="208026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Staff trained &amp; ready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A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12"/>
          <p:cNvPicPr preferRelativeResize="0"/>
          <p:nvPr/>
        </p:nvPicPr>
        <p:blipFill rotWithShape="1">
          <a:blip r:embed="rId3">
            <a:alphaModFix/>
          </a:blip>
          <a:srcRect b="0" l="-76" r="-76" t="0"/>
          <a:stretch/>
        </p:blipFill>
        <p:spPr>
          <a:xfrm>
            <a:off x="9810598" y="-476402"/>
            <a:ext cx="3219602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2"/>
          <p:cNvSpPr/>
          <p:nvPr/>
        </p:nvSpPr>
        <p:spPr>
          <a:xfrm>
            <a:off x="571500" y="1333195"/>
            <a:ext cx="5715000" cy="4572000"/>
          </a:xfrm>
          <a:prstGeom prst="roundRect">
            <a:avLst>
              <a:gd fmla="val 667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162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6667805" y="1333195"/>
            <a:ext cx="4972507" cy="2495398"/>
          </a:xfrm>
          <a:prstGeom prst="roundRect">
            <a:avLst>
              <a:gd fmla="val 2238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2" name="Google Shape;452;p12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571500" y="952805"/>
            <a:ext cx="952805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3" name="Google Shape;453;p12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571500" y="6086246"/>
            <a:ext cx="110486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2"/>
          <p:cNvSpPr txBox="1"/>
          <p:nvPr/>
        </p:nvSpPr>
        <p:spPr>
          <a:xfrm>
            <a:off x="571500" y="381305"/>
            <a:ext cx="1123980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Next Steps &amp; Closing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857707" y="1990649"/>
            <a:ext cx="2533802" cy="19202"/>
          </a:xfrm>
          <a:prstGeom prst="rect">
            <a:avLst/>
          </a:prstGeom>
          <a:solidFill>
            <a:srgbClr val="E91E8C"/>
          </a:solidFill>
          <a:ln cap="flat" cmpd="sng" w="12700">
            <a:solidFill>
              <a:srgbClr val="E91E8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/>
          <p:cNvSpPr txBox="1"/>
          <p:nvPr/>
        </p:nvSpPr>
        <p:spPr>
          <a:xfrm>
            <a:off x="857707" y="1619402"/>
            <a:ext cx="2619756" cy="277063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A6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006BA6"/>
                </a:solidFill>
                <a:latin typeface="Montserrat"/>
                <a:ea typeface="Montserrat"/>
                <a:cs typeface="Montserrat"/>
                <a:sym typeface="Montserrat"/>
              </a:rPr>
              <a:t>IMMEDIATE ACTIONS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7" name="Google Shape;457;p12"/>
          <p:cNvPicPr preferRelativeResize="0"/>
          <p:nvPr/>
        </p:nvPicPr>
        <p:blipFill rotWithShape="1">
          <a:blip r:embed="rId6">
            <a:alphaModFix/>
          </a:blip>
          <a:srcRect b="0" l="-50" r="-50" t="0"/>
          <a:stretch/>
        </p:blipFill>
        <p:spPr>
          <a:xfrm>
            <a:off x="857707" y="2286000"/>
            <a:ext cx="228600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2"/>
          <p:cNvSpPr txBox="1"/>
          <p:nvPr/>
        </p:nvSpPr>
        <p:spPr>
          <a:xfrm>
            <a:off x="1380744" y="2238451"/>
            <a:ext cx="46863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Distribute Readiness Checklist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 txBox="1"/>
          <p:nvPr/>
        </p:nvSpPr>
        <p:spPr>
          <a:xfrm>
            <a:off x="1380744" y="2486254"/>
            <a:ext cx="464881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Comprehensive audit list for infra, security, and ops to be shared with all technical leads.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0" name="Google Shape;460;p12"/>
          <p:cNvPicPr preferRelativeResize="0"/>
          <p:nvPr/>
        </p:nvPicPr>
        <p:blipFill rotWithShape="1">
          <a:blip r:embed="rId7">
            <a:alphaModFix/>
          </a:blip>
          <a:srcRect b="0" l="-90" r="-90" t="0"/>
          <a:stretch/>
        </p:blipFill>
        <p:spPr>
          <a:xfrm>
            <a:off x="857707" y="3095244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2"/>
          <p:cNvSpPr txBox="1"/>
          <p:nvPr/>
        </p:nvSpPr>
        <p:spPr>
          <a:xfrm>
            <a:off x="1380744" y="3047695"/>
            <a:ext cx="46863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Team Breakouts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 txBox="1"/>
          <p:nvPr/>
        </p:nvSpPr>
        <p:spPr>
          <a:xfrm>
            <a:off x="1380744" y="3295498"/>
            <a:ext cx="464881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Working sessions to finalize runbooks, dashboards, and operational ownership matrix.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3" name="Google Shape;463;p12"/>
          <p:cNvPicPr preferRelativeResize="0"/>
          <p:nvPr/>
        </p:nvPicPr>
        <p:blipFill rotWithShape="1">
          <a:blip r:embed="rId8">
            <a:alphaModFix/>
          </a:blip>
          <a:srcRect b="0" l="-107" r="-107" t="0"/>
          <a:stretch/>
        </p:blipFill>
        <p:spPr>
          <a:xfrm>
            <a:off x="857707" y="3905402"/>
            <a:ext cx="2670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2"/>
          <p:cNvSpPr txBox="1"/>
          <p:nvPr/>
        </p:nvSpPr>
        <p:spPr>
          <a:xfrm>
            <a:off x="1380744" y="3857854"/>
            <a:ext cx="46863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Confirm Pilot 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 txBox="1"/>
          <p:nvPr/>
        </p:nvSpPr>
        <p:spPr>
          <a:xfrm>
            <a:off x="1380744" y="4105656"/>
            <a:ext cx="464881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Lock dates for dress rehearsals, Go/No-Go decision gates, and pilot launch.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6" name="Google Shape;466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707" y="4714646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2"/>
          <p:cNvSpPr txBox="1"/>
          <p:nvPr/>
        </p:nvSpPr>
        <p:spPr>
          <a:xfrm>
            <a:off x="1380744" y="4667098"/>
            <a:ext cx="46863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Schedule Risk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 txBox="1"/>
          <p:nvPr/>
        </p:nvSpPr>
        <p:spPr>
          <a:xfrm>
            <a:off x="1380744" y="4914900"/>
            <a:ext cx="499536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Final security and compliance pass before mainnet deployment.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7239305" y="1524305"/>
            <a:ext cx="420989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DE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ADEF"/>
                </a:solidFill>
                <a:latin typeface="Montserrat"/>
                <a:ea typeface="Montserrat"/>
                <a:cs typeface="Montserrat"/>
                <a:sym typeface="Montserrat"/>
              </a:rPr>
              <a:t>SUPPORT CHANNELS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0" name="Google Shape;470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53098" y="1538021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2"/>
          <p:cNvSpPr txBox="1"/>
          <p:nvPr/>
        </p:nvSpPr>
        <p:spPr>
          <a:xfrm>
            <a:off x="6953098" y="2000707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913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DB913"/>
                </a:solidFill>
                <a:latin typeface="Open Sans"/>
                <a:ea typeface="Open Sans"/>
                <a:cs typeface="Open Sans"/>
                <a:sym typeface="Open Sans"/>
              </a:rPr>
              <a:t>Office Hours: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Tuesdays &amp; Thursdays, 14:00 UTC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 txBox="1"/>
          <p:nvPr/>
        </p:nvSpPr>
        <p:spPr>
          <a:xfrm>
            <a:off x="6953098" y="2476195"/>
            <a:ext cx="4496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913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DB913"/>
                </a:solidFill>
                <a:latin typeface="Open Sans"/>
                <a:ea typeface="Open Sans"/>
                <a:cs typeface="Open Sans"/>
                <a:sym typeface="Open Sans"/>
              </a:rPr>
              <a:t>Slack: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#cohort2-technical-support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6953098" y="2952598"/>
            <a:ext cx="50676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913"/>
              </a:buClr>
              <a:buSzPts val="1200"/>
              <a:buFont typeface="Open Sans"/>
              <a:buNone/>
            </a:pPr>
            <a:r>
              <a:rPr b="1" i="0" lang="en-US" sz="1200" u="none" cap="none" strike="noStrike">
                <a:solidFill>
                  <a:srgbClr val="FDB913"/>
                </a:solidFill>
                <a:latin typeface="Open Sans"/>
                <a:ea typeface="Open Sans"/>
                <a:cs typeface="Open Sans"/>
                <a:sym typeface="Open Sans"/>
              </a:rPr>
              <a:t>Ticketing: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Submit critical incidents via the Accelerator Portal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 txBox="1"/>
          <p:nvPr/>
        </p:nvSpPr>
        <p:spPr>
          <a:xfrm>
            <a:off x="6476695" y="4286707"/>
            <a:ext cx="5143500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THANK YOU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 txBox="1"/>
          <p:nvPr/>
        </p:nvSpPr>
        <p:spPr>
          <a:xfrm>
            <a:off x="6553505" y="4979822"/>
            <a:ext cx="506760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DEF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00ADEF"/>
                </a:solidFill>
                <a:latin typeface="Open Sans"/>
                <a:ea typeface="Open Sans"/>
                <a:cs typeface="Open Sans"/>
                <a:sym typeface="Open Sans"/>
              </a:rPr>
              <a:t>Let's build a sustainable future.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 txBox="1"/>
          <p:nvPr/>
        </p:nvSpPr>
        <p:spPr>
          <a:xfrm>
            <a:off x="571500" y="6191402"/>
            <a:ext cx="77349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SDG BLOCKCHAIN ACCELERATOR | UNDP AltFinLab • Blockchain for Good Alliance • EMURGO Labs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